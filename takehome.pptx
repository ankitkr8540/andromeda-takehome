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4072" r:id="rId1"/>
  </p:sldMasterIdLst>
  <p:notesMasterIdLst>
    <p:notesMasterId r:id="rId21"/>
  </p:notesMasterIdLst>
  <p:sldIdLst>
    <p:sldId id="256" r:id="rId2"/>
    <p:sldId id="286" r:id="rId3"/>
    <p:sldId id="257" r:id="rId4"/>
    <p:sldId id="287" r:id="rId5"/>
    <p:sldId id="273" r:id="rId6"/>
    <p:sldId id="263" r:id="rId7"/>
    <p:sldId id="265" r:id="rId8"/>
    <p:sldId id="267" r:id="rId9"/>
    <p:sldId id="280" r:id="rId10"/>
    <p:sldId id="270" r:id="rId11"/>
    <p:sldId id="271" r:id="rId12"/>
    <p:sldId id="274" r:id="rId13"/>
    <p:sldId id="275" r:id="rId14"/>
    <p:sldId id="282" r:id="rId15"/>
    <p:sldId id="283" r:id="rId16"/>
    <p:sldId id="288" r:id="rId17"/>
    <p:sldId id="278" r:id="rId18"/>
    <p:sldId id="285" r:id="rId19"/>
    <p:sldId id="27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66BD9E4-9E86-3C45-9BAC-0E34868A4AA2}">
          <p14:sldIdLst>
            <p14:sldId id="256"/>
            <p14:sldId id="286"/>
            <p14:sldId id="257"/>
            <p14:sldId id="287"/>
            <p14:sldId id="273"/>
            <p14:sldId id="263"/>
            <p14:sldId id="265"/>
            <p14:sldId id="267"/>
            <p14:sldId id="280"/>
            <p14:sldId id="270"/>
            <p14:sldId id="271"/>
            <p14:sldId id="274"/>
            <p14:sldId id="275"/>
            <p14:sldId id="282"/>
            <p14:sldId id="283"/>
            <p14:sldId id="288"/>
            <p14:sldId id="278"/>
          </p14:sldIdLst>
        </p14:section>
        <p14:section name="Appendix" id="{9BE86572-8A94-9F49-B7DD-244128720DE8}">
          <p14:sldIdLst>
            <p14:sldId id="285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6EC"/>
    <a:srgbClr val="4D1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5"/>
    <p:restoredTop sz="96276"/>
  </p:normalViewPr>
  <p:slideViewPr>
    <p:cSldViewPr snapToGrid="0">
      <p:cViewPr varScale="1">
        <p:scale>
          <a:sx n="217" d="100"/>
          <a:sy n="217" d="100"/>
        </p:scale>
        <p:origin x="3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575F8-835B-974B-8FB4-A2E2424F1995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C93604-6061-A649-8B65-B22B469C2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41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93604-6061-A649-8B65-B22B469C2F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62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 started with a simple multilayer perceptron using two hidden layers of 64 neurons each and Tanh activations. My goal wasn't to maximize model complexity, but to establish a general-purpose baseline. I used Adam optimization, MSE loss, and validation-based early stopping. I also fitted the input scaler only on the training split to prevent information leakage.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93604-6061-A649-8B65-B22B469C2FC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95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sinusoidal representation was suitable, but finding accurate frequencies remained difficult. I next tested spectral initialization using training samples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C93604-6061-A649-8B65-B22B469C2FC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920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39D6783-9C55-A248-802C-096F77350E39}" type="datetime1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Ankit Kumar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66E208-BCBD-874A-AC3A-9D7D4FA6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6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E4233-E909-974D-8ACB-9FBBCC06ECF8}" type="datetime1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 Kumar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7D66E208-BCBD-874A-AC3A-9D7D4FA6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17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30A5C08-A7B7-6E43-8928-820CA5619672}" type="datetime1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Ankit Kumar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66E208-BCBD-874A-AC3A-9D7D4FA6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539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DB1CD-B9F4-E84E-A232-202A892023D9}" type="datetime1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 Kumar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81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7F11-431C-6947-B703-D5336B9B02E2}" type="datetime1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 Kumar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62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35F4C-6634-E543-BBF4-0573C8940584}" type="datetime1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 Kumar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9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E2F11-BB88-7E4D-8402-81CFA5C6F0B2}" type="datetime1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 Kumar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44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F352184-1108-CB4C-9C77-472DB00F854F}" type="datetime1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Ankit Kumar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66E208-BCBD-874A-AC3A-9D7D4FA6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69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05574-2900-D746-A2C7-8805CD4E43A0}" type="datetime1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 Kumar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54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7DC6C-565E-B747-B4DA-F5FD3C86FB69}" type="datetime1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 Kumar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36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A43128B-63D1-6240-A21A-246CB9FA6434}" type="datetime1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/>
              <a:t>Ankit Kumar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D66E208-BCBD-874A-AC3A-9D7D4FA65A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709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Ankit Kumar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5EA054B-B791-434E-8C3B-1D17F777453E}" type="datetime1">
              <a:rPr lang="en-US" smtClean="0"/>
              <a:t>10/24/26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66E208-BCBD-874A-AC3A-9D7D4FA65AE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505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9870A2A-174A-EA4F-A73B-27AE1465E3BD}" type="datetime1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/>
              <a:t>Ankit Kumar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7D66E208-BCBD-874A-AC3A-9D7D4FA65AE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28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3" r:id="rId1"/>
    <p:sldLayoutId id="2147484074" r:id="rId2"/>
    <p:sldLayoutId id="2147484075" r:id="rId3"/>
    <p:sldLayoutId id="2147484076" r:id="rId4"/>
    <p:sldLayoutId id="2147484077" r:id="rId5"/>
    <p:sldLayoutId id="2147484078" r:id="rId6"/>
    <p:sldLayoutId id="2147484079" r:id="rId7"/>
    <p:sldLayoutId id="2147484080" r:id="rId8"/>
    <p:sldLayoutId id="2147484081" r:id="rId9"/>
    <p:sldLayoutId id="2147484082" r:id="rId10"/>
    <p:sldLayoutId id="2147484083" r:id="rId11"/>
    <p:sldLayoutId id="2147484084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kitkr8540/Andromeda-TakeHome/blob/master/README.md#setup" TargetMode="External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arxiv.org/abs/2006.0819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B93146F-62ED-4C59-844C-0935D0FB5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7207B7B-5C57-458C-BE38-95D2CD765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3770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5" y="0"/>
            <a:ext cx="465429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AEA15E-0DA1-5F8F-90D8-930CD897C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7302" y="1093884"/>
            <a:ext cx="3869029" cy="20253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/>
              <a:t>LEARNING A BLACK-BOX FUNCTION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CE3C5354-0FD8-C31B-E333-3F6DB0C8F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09440" y="4643690"/>
            <a:ext cx="4446494" cy="77052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accent1"/>
                </a:solidFill>
              </a:rPr>
              <a:t>ML ENGINEERING take-home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09235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Graphic 14" descr="Andromeda Surgical">
            <a:extLst>
              <a:ext uri="{FF2B5EF4-FFF2-40B4-BE49-F238E27FC236}">
                <a16:creationId xmlns:a16="http://schemas.microsoft.com/office/drawing/2014/main" id="{5ACBAAC5-6B86-79CD-ED89-C6759BB429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3465" y="2747740"/>
            <a:ext cx="6253164" cy="13819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C26B85-D498-A16C-F7C4-7AC0C55F91B2}"/>
              </a:ext>
            </a:extLst>
          </p:cNvPr>
          <p:cNvSpPr txBox="1"/>
          <p:nvPr/>
        </p:nvSpPr>
        <p:spPr>
          <a:xfrm>
            <a:off x="3962399" y="57613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E024845E-9111-6D8A-73C9-7B3A1F860E0F}"/>
                  </a:ext>
                </a:extLst>
              </p:cNvPr>
              <p:cNvSpPr/>
              <p:nvPr/>
            </p:nvSpPr>
            <p:spPr>
              <a:xfrm>
                <a:off x="8813950" y="5060105"/>
                <a:ext cx="1907390" cy="258954"/>
              </a:xfrm>
              <a:prstGeom prst="roundRect">
                <a:avLst/>
              </a:prstGeom>
              <a:solidFill>
                <a:srgbClr val="F1E6EC">
                  <a:alpha val="44000"/>
                </a:srgb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>
                    <a:solidFill>
                      <a:schemeClr val="tx1"/>
                    </a:solidFill>
                  </a:rPr>
                  <a:t>ANKIT KUMAR </a:t>
                </a:r>
                <a14:m>
                  <m:oMath xmlns:m="http://schemas.openxmlformats.org/officeDocument/2006/math">
                    <m:r>
                      <a:rPr lang="en-US" sz="9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9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9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900">
                    <a:solidFill>
                      <a:schemeClr val="tx1"/>
                    </a:solidFill>
                  </a:rPr>
                  <a:t>OCTOBER 2026 </a:t>
                </a:r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E024845E-9111-6D8A-73C9-7B3A1F860E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3950" y="5060105"/>
                <a:ext cx="1907390" cy="25895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5DF06EE8-A7AE-0A62-4FDC-1BD4DB1E4E57}"/>
              </a:ext>
            </a:extLst>
          </p:cNvPr>
          <p:cNvSpPr txBox="1"/>
          <p:nvPr/>
        </p:nvSpPr>
        <p:spPr>
          <a:xfrm>
            <a:off x="7930336" y="2988073"/>
            <a:ext cx="3869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Periodic function learning with extrapolation beyond the training range</a:t>
            </a:r>
          </a:p>
        </p:txBody>
      </p:sp>
    </p:spTree>
    <p:extLst>
      <p:ext uri="{BB962C8B-B14F-4D97-AF65-F5344CB8AC3E}">
        <p14:creationId xmlns:p14="http://schemas.microsoft.com/office/powerpoint/2010/main" val="9002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0D28007-E076-DD20-6B39-12C26B1F12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9752" y="1921958"/>
                <a:ext cx="11029615" cy="623664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Learn a periodic black-box function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10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/>
                  <a:t>evaluate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60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/>
                  <a:t> far outside the training range.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F0D28007-E076-DD20-6B39-12C26B1F12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9752" y="1921958"/>
                <a:ext cx="11029615" cy="623664"/>
              </a:xfrm>
              <a:blipFill>
                <a:blip r:embed="rId2"/>
                <a:stretch>
                  <a:fillRect l="-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B29C46-62B3-76E5-77CB-9EADA3832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47E4E482-3C93-9EF2-6588-2EC5012E88A5}"/>
                  </a:ext>
                </a:extLst>
              </p:cNvPr>
              <p:cNvSpPr/>
              <p:nvPr/>
            </p:nvSpPr>
            <p:spPr>
              <a:xfrm>
                <a:off x="489752" y="2751624"/>
                <a:ext cx="3401530" cy="2804160"/>
              </a:xfrm>
              <a:prstGeom prst="roundRect">
                <a:avLst/>
              </a:prstGeom>
              <a:solidFill>
                <a:srgbClr val="F1E6E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bg2">
                        <a:lumMod val="50000"/>
                      </a:schemeClr>
                    </a:solidFill>
                  </a:rPr>
                  <a:t>Tanh MLP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44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4400" b="1" i="1" smtClean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𝟗𝟓</m:t>
                      </m:r>
                    </m:oMath>
                  </m:oMathPara>
                </a14:m>
                <a:endParaRPr lang="en-US" sz="2800" b="1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algn="ctr"/>
                <a:r>
                  <a:rPr lang="en-US">
                    <a:solidFill>
                      <a:schemeClr val="tx2"/>
                    </a:solidFill>
                  </a:rPr>
                  <a:t>Far RMSE</a:t>
                </a:r>
              </a:p>
              <a:p>
                <a:pPr algn="ctr"/>
                <a:endParaRPr lang="en-US">
                  <a:solidFill>
                    <a:schemeClr val="tx2"/>
                  </a:solidFill>
                </a:endParaRPr>
              </a:p>
              <a:p>
                <a:pPr algn="ctr"/>
                <a:r>
                  <a:rPr lang="en-US">
                    <a:solidFill>
                      <a:schemeClr val="tx2"/>
                    </a:solidFill>
                  </a:rPr>
                  <a:t>Worse than predicting the mean (0.86)</a:t>
                </a: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47E4E482-3C93-9EF2-6588-2EC5012E88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52" y="2751624"/>
                <a:ext cx="3401530" cy="280416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B23B13E-5E41-41F7-1089-0361C8352370}"/>
              </a:ext>
            </a:extLst>
          </p:cNvPr>
          <p:cNvSpPr/>
          <p:nvPr/>
        </p:nvSpPr>
        <p:spPr>
          <a:xfrm>
            <a:off x="4395234" y="2751624"/>
            <a:ext cx="3401529" cy="2804160"/>
          </a:xfrm>
          <a:prstGeom prst="roundRect">
            <a:avLst/>
          </a:prstGeom>
          <a:solidFill>
            <a:srgbClr val="F1E6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accent2"/>
                </a:solidFill>
              </a:rPr>
              <a:t>Snake MLP</a:t>
            </a:r>
          </a:p>
          <a:p>
            <a:pPr algn="ctr"/>
            <a:r>
              <a:rPr lang="en-US" sz="4400" b="1">
                <a:solidFill>
                  <a:schemeClr val="accent2"/>
                </a:solidFill>
              </a:rPr>
              <a:t>0.39</a:t>
            </a:r>
          </a:p>
          <a:p>
            <a:pPr algn="ctr"/>
            <a:r>
              <a:rPr lang="en-US">
                <a:solidFill>
                  <a:schemeClr val="tx2"/>
                </a:solidFill>
              </a:rPr>
              <a:t>Far RMSE</a:t>
            </a:r>
          </a:p>
          <a:p>
            <a:pPr algn="ctr"/>
            <a:r>
              <a:rPr lang="en-US">
                <a:solidFill>
                  <a:schemeClr val="tx2"/>
                </a:solidFill>
              </a:rPr>
              <a:t>Keeps the oscillation, but error increases farther from the training window.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CA8BEAD8-4D6F-A4CF-DCD4-545EB0E1C50A}"/>
                  </a:ext>
                </a:extLst>
              </p:cNvPr>
              <p:cNvSpPr/>
              <p:nvPr/>
            </p:nvSpPr>
            <p:spPr>
              <a:xfrm>
                <a:off x="8300715" y="2751624"/>
                <a:ext cx="3401532" cy="2724616"/>
              </a:xfrm>
              <a:prstGeom prst="roundRect">
                <a:avLst/>
              </a:prstGeom>
              <a:solidFill>
                <a:srgbClr val="F1E6E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>
                    <a:solidFill>
                      <a:schemeClr val="accent1"/>
                    </a:solidFill>
                  </a:rPr>
                  <a:t>Fourier regressor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4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4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4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4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𝟏𝟎</m:t>
                          </m:r>
                        </m:e>
                        <m:sup>
                          <m:r>
                            <a:rPr lang="en-US" sz="4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4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lang="en-US" sz="4400" b="1">
                  <a:solidFill>
                    <a:schemeClr val="accent1"/>
                  </a:solidFill>
                </a:endParaRPr>
              </a:p>
              <a:p>
                <a:pPr algn="ctr"/>
                <a:r>
                  <a:rPr lang="en-US">
                    <a:solidFill>
                      <a:schemeClr val="tx2"/>
                    </a:solidFill>
                  </a:rPr>
                  <a:t>Far RMSE</a:t>
                </a:r>
              </a:p>
              <a:p>
                <a:pPr algn="ctr"/>
                <a:r>
                  <a:rPr lang="en-US">
                    <a:solidFill>
                      <a:schemeClr val="tx2"/>
                    </a:solidFill>
                  </a:rPr>
                  <a:t>25 parameters; spectral init + Adam</a:t>
                </a: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CA8BEAD8-4D6F-A4CF-DCD4-545EB0E1C5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715" y="2751624"/>
                <a:ext cx="3401532" cy="272461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le 7">
            <a:extLst>
              <a:ext uri="{FF2B5EF4-FFF2-40B4-BE49-F238E27FC236}">
                <a16:creationId xmlns:a16="http://schemas.microsoft.com/office/drawing/2014/main" id="{8603AE83-356F-A69E-2317-C811B2B026B4}"/>
              </a:ext>
            </a:extLst>
          </p:cNvPr>
          <p:cNvSpPr txBox="1">
            <a:spLocks/>
          </p:cNvSpPr>
          <p:nvPr/>
        </p:nvSpPr>
        <p:spPr>
          <a:xfrm>
            <a:off x="581192" y="707982"/>
            <a:ext cx="11029616" cy="101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Result at a glance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D6514D0-B3DA-C804-4DA8-957CDA60EF29}"/>
              </a:ext>
            </a:extLst>
          </p:cNvPr>
          <p:cNvSpPr/>
          <p:nvPr/>
        </p:nvSpPr>
        <p:spPr>
          <a:xfrm>
            <a:off x="581192" y="5750560"/>
            <a:ext cx="10747208" cy="802640"/>
          </a:xfrm>
          <a:prstGeom prst="roundRect">
            <a:avLst/>
          </a:prstGeom>
          <a:solidFill>
            <a:srgbClr val="F1E6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2"/>
                </a:solidFill>
              </a:rPr>
              <a:t>Message: </a:t>
            </a:r>
            <a:r>
              <a:rPr lang="en-US" b="1">
                <a:solidFill>
                  <a:schemeClr val="tx2"/>
                </a:solidFill>
              </a:rPr>
              <a:t>Matching the model structure to the signal, with a data-driven frequency estimate, is what makes extrapolation work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A92939-5DC4-01B4-58D3-1C8A8F8D740C}"/>
              </a:ext>
            </a:extLst>
          </p:cNvPr>
          <p:cNvSpPr txBox="1"/>
          <p:nvPr/>
        </p:nvSpPr>
        <p:spPr>
          <a:xfrm>
            <a:off x="8735528" y="6570841"/>
            <a:ext cx="2875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bg2">
                    <a:lumMod val="50000"/>
                  </a:schemeClr>
                </a:solidFill>
              </a:rPr>
              <a:t>Separately tuned configurations; seed 42</a:t>
            </a:r>
          </a:p>
        </p:txBody>
      </p:sp>
    </p:spTree>
    <p:extLst>
      <p:ext uri="{BB962C8B-B14F-4D97-AF65-F5344CB8AC3E}">
        <p14:creationId xmlns:p14="http://schemas.microsoft.com/office/powerpoint/2010/main" val="5888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77102-F86B-F317-4597-2D7D971F9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 &amp; success criteria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B72F3-4870-CB27-6DA1-CDD022C933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6058" y="2015078"/>
                <a:ext cx="5514808" cy="4306184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1600" b="1" dirty="0"/>
                  <a:t>Objective</a:t>
                </a:r>
              </a:p>
              <a:p>
                <a:pPr lvl="1"/>
                <a:r>
                  <a:rPr lang="en-US" sz="1400" dirty="0"/>
                  <a:t>Learn an approximation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400" dirty="0"/>
                  <a:t> of a bounded, periodic black-box function from sampled input-output pairs.</a:t>
                </a:r>
              </a:p>
              <a:p>
                <a:pPr lvl="1"/>
                <a:r>
                  <a:rPr lang="en-US" sz="1400" dirty="0"/>
                  <a:t>Train on a finite interval,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sz="1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 [−10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, 10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lit/>
                      </m:rPr>
                      <a:rPr lang="en-US" sz="14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1400" dirty="0"/>
                  <a:t>although the function is defined for all real inputs.</a:t>
                </a:r>
              </a:p>
              <a:p>
                <a:pPr lvl="1"/>
                <a:r>
                  <a:rPr lang="en-US" sz="1400" dirty="0"/>
                  <a:t>Evaluate both interpolation within the training interval and extrapolation beyond it.</a:t>
                </a:r>
              </a:p>
              <a:p>
                <a:pPr marL="0" indent="0">
                  <a:buNone/>
                </a:pPr>
                <a:r>
                  <a:rPr lang="en-US" b="1" dirty="0"/>
                  <a:t>Constraints</a:t>
                </a:r>
              </a:p>
              <a:p>
                <a:pPr lvl="1"/>
                <a:r>
                  <a:rPr lang="en-US" sz="1400" dirty="0"/>
                  <a:t>Training observations restricted to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−10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 10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1400" dirty="0"/>
              </a:p>
              <a:p>
                <a:pPr lvl="1"/>
                <a:r>
                  <a:rPr lang="en-US" sz="1400" dirty="0"/>
                  <a:t>Learn from samples only; no target-function calls during inference.</a:t>
                </a:r>
              </a:p>
              <a:p>
                <a:pPr lvl="1"/>
                <a:r>
                  <a:rPr lang="en-US" sz="1400" dirty="0"/>
                  <a:t>No hardcoded target period or frequencies.</a:t>
                </a:r>
              </a:p>
              <a:p>
                <a:pPr lvl="1"/>
                <a:r>
                  <a:rPr lang="en-US" sz="1400" dirty="0"/>
                  <a:t>Free: architecture, loss, optimizer, sample count and sampling strategy</a:t>
                </a:r>
              </a:p>
              <a:p>
                <a:pPr marL="0" indent="0">
                  <a:buNone/>
                </a:pPr>
                <a:r>
                  <a:rPr lang="en-US" sz="1600" b="1" dirty="0"/>
                  <a:t>Success criteria</a:t>
                </a:r>
              </a:p>
              <a:p>
                <a:pPr lvl="1"/>
                <a:r>
                  <a:rPr lang="en-US" sz="1400" dirty="0"/>
                  <a:t>Accurate prediction on held-out in-domain inputs.</a:t>
                </a:r>
              </a:p>
              <a:p>
                <a:pPr lvl="1"/>
                <a:r>
                  <a:rPr lang="en-US" sz="1400" dirty="0"/>
                  <a:t>Quantitative evaluation of near and far extrapolation, including failure cases.</a:t>
                </a:r>
              </a:p>
              <a:p>
                <a:pPr lvl="1"/>
                <a:r>
                  <a:rPr lang="en-US" sz="1400" dirty="0"/>
                  <a:t>Reproducible training and reliable inference from saved models.</a:t>
                </a:r>
              </a:p>
              <a:p>
                <a:pPr lvl="1"/>
                <a:r>
                  <a:rPr lang="en-US" sz="1400" dirty="0"/>
                  <a:t>Clean, modular, tested implementation.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5B72F3-4870-CB27-6DA1-CDD022C933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6058" y="2015078"/>
                <a:ext cx="5514808" cy="4306184"/>
              </a:xfrm>
              <a:blipFill>
                <a:blip r:embed="rId2"/>
                <a:stretch>
                  <a:fillRect l="-4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4B59B8A-27F5-7436-FE86-B696C6F13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2</a:t>
            </a:fld>
            <a:endParaRPr 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5A9238DC-F6B0-465E-37E6-A16F1011B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866" y="2968270"/>
            <a:ext cx="6340746" cy="195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72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71BCC-F010-81CA-87B4-3237C050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this problem matters in surgical robotics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149A0-F0FC-DE0B-9CA9-19FBF3A09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3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4B4631F-45A7-ECC9-7763-75A0D3387202}"/>
              </a:ext>
            </a:extLst>
          </p:cNvPr>
          <p:cNvSpPr/>
          <p:nvPr/>
        </p:nvSpPr>
        <p:spPr>
          <a:xfrm>
            <a:off x="762000" y="1929859"/>
            <a:ext cx="5019040" cy="3465102"/>
          </a:xfrm>
          <a:prstGeom prst="roundRect">
            <a:avLst>
              <a:gd name="adj" fmla="val 10916"/>
            </a:avLst>
          </a:prstGeom>
          <a:solidFill>
            <a:srgbClr val="F1E6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Aft>
                <a:spcPts val="1000"/>
              </a:spcAft>
            </a:pPr>
            <a:r>
              <a:rPr lang="en-US" sz="2400" b="1">
                <a:solidFill>
                  <a:srgbClr val="903163"/>
                </a:solidFill>
              </a:rPr>
              <a:t>Real-world data constraints</a:t>
            </a:r>
          </a:p>
          <a:p>
            <a:pPr marL="201168" indent="-201168">
              <a:spcAft>
                <a:spcPts val="1200"/>
              </a:spcAft>
              <a:buClr>
                <a:srgbClr val="903163"/>
              </a:buClr>
              <a:buSzPct val="80000"/>
              <a:buFont typeface="Wingdings"/>
              <a:buChar char="n"/>
            </a:pPr>
            <a:r>
              <a:rPr lang="en-US" b="1">
                <a:solidFill>
                  <a:srgbClr val="262626"/>
                </a:solidFill>
              </a:rPr>
              <a:t>Limited data: </a:t>
            </a:r>
            <a:r>
              <a:rPr lang="en-US">
                <a:solidFill>
                  <a:srgbClr val="262626"/>
                </a:solidFill>
              </a:rPr>
              <a:t>expert surgical demonstrations and instrument telemetry are costly to collect.</a:t>
            </a:r>
          </a:p>
          <a:p>
            <a:pPr marL="201168" indent="-201168">
              <a:spcAft>
                <a:spcPts val="1200"/>
              </a:spcAft>
              <a:buClr>
                <a:srgbClr val="903163"/>
              </a:buClr>
              <a:buSzPct val="80000"/>
              <a:buFont typeface="Wingdings"/>
              <a:buChar char="n"/>
            </a:pPr>
            <a:r>
              <a:rPr lang="en-US" b="1">
                <a:solidFill>
                  <a:srgbClr val="262626"/>
                </a:solidFill>
              </a:rPr>
              <a:t>High variability: </a:t>
            </a:r>
            <a:r>
              <a:rPr lang="en-US">
                <a:solidFill>
                  <a:srgbClr val="262626"/>
                </a:solidFill>
              </a:rPr>
              <a:t>anatomy, instruments, surgeon behavior and operating conditions differ between procedures.</a:t>
            </a:r>
          </a:p>
          <a:p>
            <a:pPr marL="201168" indent="-201168">
              <a:spcAft>
                <a:spcPts val="1200"/>
              </a:spcAft>
              <a:buClr>
                <a:srgbClr val="903163"/>
              </a:buClr>
              <a:buSzPct val="80000"/>
              <a:buFont typeface="Wingdings"/>
              <a:buChar char="n"/>
            </a:pPr>
            <a:r>
              <a:rPr lang="en-US" b="1">
                <a:solidFill>
                  <a:srgbClr val="262626"/>
                </a:solidFill>
              </a:rPr>
              <a:t>Safety constraints: </a:t>
            </a:r>
            <a:r>
              <a:rPr lang="en-US">
                <a:solidFill>
                  <a:srgbClr val="262626"/>
                </a:solidFill>
              </a:rPr>
              <a:t>low average error is not enough; failures and uncertainty must be understood.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A18358-3744-7C70-FE24-BDB5952D5B20}"/>
              </a:ext>
            </a:extLst>
          </p:cNvPr>
          <p:cNvSpPr/>
          <p:nvPr/>
        </p:nvSpPr>
        <p:spPr>
          <a:xfrm>
            <a:off x="6410962" y="1929859"/>
            <a:ext cx="5019040" cy="3465102"/>
          </a:xfrm>
          <a:prstGeom prst="roundRect">
            <a:avLst>
              <a:gd name="adj" fmla="val 10916"/>
            </a:avLst>
          </a:prstGeom>
          <a:solidFill>
            <a:srgbClr val="F1E6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000"/>
              </a:spcAft>
            </a:pPr>
            <a:r>
              <a:rPr lang="en-US" sz="2400" b="1">
                <a:solidFill>
                  <a:srgbClr val="903163"/>
                </a:solidFill>
              </a:rPr>
              <a:t>Connection to the take-home</a:t>
            </a:r>
          </a:p>
          <a:p>
            <a:pPr marL="201168" indent="-201168">
              <a:spcAft>
                <a:spcPts val="1200"/>
              </a:spcAft>
              <a:buClr>
                <a:srgbClr val="903163"/>
              </a:buClr>
              <a:buSzPct val="80000"/>
              <a:buFont typeface="Wingdings"/>
              <a:buChar char="n"/>
            </a:pPr>
            <a:r>
              <a:rPr lang="en-US" b="1">
                <a:solidFill>
                  <a:srgbClr val="262626"/>
                </a:solidFill>
              </a:rPr>
              <a:t>Sample efficiency: </a:t>
            </a:r>
            <a:r>
              <a:rPr lang="en-US">
                <a:solidFill>
                  <a:srgbClr val="262626"/>
                </a:solidFill>
              </a:rPr>
              <a:t>how much can we learn from a limited number of observations?</a:t>
            </a:r>
          </a:p>
          <a:p>
            <a:pPr marL="201168" indent="-201168">
              <a:spcAft>
                <a:spcPts val="1200"/>
              </a:spcAft>
              <a:buClr>
                <a:srgbClr val="903163"/>
              </a:buClr>
              <a:buSzPct val="80000"/>
              <a:buFont typeface="Wingdings"/>
              <a:buChar char="n"/>
            </a:pPr>
            <a:r>
              <a:rPr lang="en-US" b="1">
                <a:solidFill>
                  <a:srgbClr val="262626"/>
                </a:solidFill>
              </a:rPr>
              <a:t>Generalization: </a:t>
            </a:r>
            <a:r>
              <a:rPr lang="en-US">
                <a:solidFill>
                  <a:srgbClr val="262626"/>
                </a:solidFill>
              </a:rPr>
              <a:t>what happens when inputs fall outside the training distribution?</a:t>
            </a:r>
          </a:p>
          <a:p>
            <a:pPr marL="201168" indent="-201168">
              <a:spcAft>
                <a:spcPts val="1200"/>
              </a:spcAft>
              <a:buClr>
                <a:srgbClr val="903163"/>
              </a:buClr>
              <a:buSzPct val="80000"/>
              <a:buFont typeface="Wingdings"/>
              <a:buChar char="n"/>
            </a:pPr>
            <a:r>
              <a:rPr lang="en-US" b="1">
                <a:solidFill>
                  <a:srgbClr val="262626"/>
                </a:solidFill>
              </a:rPr>
              <a:t>Model assumption: </a:t>
            </a:r>
            <a:r>
              <a:rPr lang="en-US">
                <a:solidFill>
                  <a:srgbClr val="262626"/>
                </a:solidFill>
              </a:rPr>
              <a:t>can the right mathematical structure make learning more reliable from limited data?</a:t>
            </a:r>
          </a:p>
          <a:p>
            <a:pPr>
              <a:spcAft>
                <a:spcPts val="1000"/>
              </a:spcAft>
            </a:pPr>
            <a:endParaRPr lang="en-US">
              <a:solidFill>
                <a:srgbClr val="262626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F454DB1-8672-300F-B4CA-E1406DC72E0A}"/>
              </a:ext>
            </a:extLst>
          </p:cNvPr>
          <p:cNvSpPr/>
          <p:nvPr/>
        </p:nvSpPr>
        <p:spPr>
          <a:xfrm>
            <a:off x="585216" y="5806440"/>
            <a:ext cx="11064240" cy="685800"/>
          </a:xfrm>
          <a:prstGeom prst="roundRect">
            <a:avLst/>
          </a:prstGeom>
          <a:solidFill>
            <a:srgbClr val="F1E6EC"/>
          </a:solidFill>
          <a:ln w="19050">
            <a:solidFill>
              <a:srgbClr val="903163"/>
            </a:solidFill>
          </a:ln>
          <a:effectLst/>
        </p:spPr>
        <p:txBody>
          <a:bodyPr wrap="square" lIns="182880" tIns="64008" rIns="182880" bIns="64008" rtlCol="0" anchor="ctr"/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sz="1500" b="1" i="0">
                <a:solidFill>
                  <a:srgbClr val="903163"/>
                </a:solidFill>
              </a:rPr>
              <a:t>Core question:  </a:t>
            </a:r>
            <a:r>
              <a:rPr sz="1500" b="1" i="0">
                <a:solidFill>
                  <a:srgbClr val="262626"/>
                </a:solidFill>
              </a:rPr>
              <a:t>How do we build models that generalize reliably when data is scarce and mistakes are costly?</a:t>
            </a:r>
          </a:p>
        </p:txBody>
      </p:sp>
    </p:spTree>
    <p:extLst>
      <p:ext uri="{BB962C8B-B14F-4D97-AF65-F5344CB8AC3E}">
        <p14:creationId xmlns:p14="http://schemas.microsoft.com/office/powerpoint/2010/main" val="3278200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32504-4916-F7EF-1F01-44FA7EA0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&amp; evaluation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B9BA817-4352-7C3D-DBDC-BEF2EC284D6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34206" y="1929295"/>
                <a:ext cx="5087075" cy="874970"/>
              </a:xfrm>
            </p:spPr>
            <p:txBody>
              <a:bodyPr/>
              <a:lstStyle/>
              <a:p>
                <a:pPr algn="ctr"/>
                <a:r>
                  <a:rPr lang="en-US"/>
                  <a:t>In-domain (interpolation)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7,000 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𝑡𝑟𝑎𝑖𝑛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, 1,000 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𝑣𝑎𝑙𝑖𝑑𝑎𝑡𝑖𝑜𝑛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, 2,000 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𝑡𝑒𝑠𝑡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3B9BA817-4352-7C3D-DBDC-BEF2EC284D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34206" y="1929295"/>
                <a:ext cx="5087075" cy="87497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F16EDCB-9020-0D96-7DAA-7457566536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81554" y="2804265"/>
            <a:ext cx="5392738" cy="20836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F64B37A0-6941-56F2-6CDD-1A624E2DCB27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algn="ctr"/>
                <a:r>
                  <a:rPr lang="en-US"/>
                  <a:t>Out-of-domain (extrapolation)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2,000 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𝑎𝑑𝑑𝑖𝑡𝑖𝑜𝑛𝑎𝑙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𝑠𝑎𝑚𝑝𝑙𝑒𝑠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𝑝𝑒𝑟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𝑏𝑎𝑛𝑑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F64B37A0-6941-56F2-6CDD-1A624E2DCB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blipFill>
                <a:blip r:embed="rId5"/>
                <a:stretch>
                  <a:fillRect t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31B91-BF93-A87D-6F3C-592C5BDD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4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EDADB5-F69F-E5EA-F54C-660A4DF2B8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050" y="2804265"/>
            <a:ext cx="4123776" cy="29470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425455AC-280E-AC39-B944-335EFF404CE2}"/>
                  </a:ext>
                </a:extLst>
              </p:cNvPr>
              <p:cNvSpPr/>
              <p:nvPr/>
            </p:nvSpPr>
            <p:spPr>
              <a:xfrm>
                <a:off x="545846" y="5359232"/>
                <a:ext cx="5819610" cy="738664"/>
              </a:xfrm>
              <a:prstGeom prst="roundRect">
                <a:avLst/>
              </a:prstGeom>
              <a:solidFill>
                <a:srgbClr val="F1E6EC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sz="16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160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+0.55</m:t>
                          </m:r>
                          <m:func>
                            <m:funcPr>
                              <m:ctrlPr>
                                <a:rPr lang="en-US" sz="160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+0.35</m:t>
                          </m:r>
                          <m:func>
                            <m:funcPr>
                              <m:ctrlPr>
                                <a:rPr lang="en-US" sz="160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+0.4</m:t>
                                  </m:r>
                                </m:e>
                              </m:d>
                            </m:e>
                          </m:func>
                        </m:e>
                        <m:e>
                          <m:r>
                            <a:rPr lang="en-US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+0.20</m:t>
                          </m:r>
                          <m:func>
                            <m:funcPr>
                              <m:ctrlPr>
                                <a:rPr lang="en-US" sz="160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−0.7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+0.12</m:t>
                          </m:r>
                          <m:func>
                            <m:funcPr>
                              <m:ctrlPr>
                                <a:rPr lang="en-US" sz="160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6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+0.08</m:t>
                          </m:r>
                          <m:func>
                            <m:funcPr>
                              <m:ctrlPr>
                                <a:rPr lang="en-US" sz="160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60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  <m: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600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  <m:t>+0.2</m:t>
                                  </m:r>
                                </m:e>
                              </m:d>
                            </m:e>
                          </m:func>
                        </m:e>
                      </m:eqArr>
                    </m:oMath>
                  </m:oMathPara>
                </a14:m>
                <a:endParaRPr lang="en-US" sz="160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8" name="Rounded Rectangle 17">
                <a:extLst>
                  <a:ext uri="{FF2B5EF4-FFF2-40B4-BE49-F238E27FC236}">
                    <a16:creationId xmlns:a16="http://schemas.microsoft.com/office/drawing/2014/main" id="{425455AC-280E-AC39-B944-335EFF404C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6" y="5359232"/>
                <a:ext cx="5819610" cy="738664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DD9A018-6149-A49A-14F3-DDE977ABABC7}"/>
              </a:ext>
            </a:extLst>
          </p:cNvPr>
          <p:cNvSpPr txBox="1"/>
          <p:nvPr/>
        </p:nvSpPr>
        <p:spPr>
          <a:xfrm>
            <a:off x="581190" y="4975747"/>
            <a:ext cx="2331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Ground truth function: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79B233-702F-2C12-B7BE-96D29FA0DE1F}"/>
              </a:ext>
            </a:extLst>
          </p:cNvPr>
          <p:cNvSpPr txBox="1"/>
          <p:nvPr/>
        </p:nvSpPr>
        <p:spPr>
          <a:xfrm>
            <a:off x="7267408" y="6090429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/>
              <a:t>Extrapolation samples are used only for evaluation – Not fitting or model selection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D9BDF1-7324-C292-85A7-F3CA54677D85}"/>
                  </a:ext>
                </a:extLst>
              </p:cNvPr>
              <p:cNvSpPr txBox="1"/>
              <p:nvPr/>
            </p:nvSpPr>
            <p:spPr>
              <a:xfrm>
                <a:off x="545846" y="6183897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/>
                  <a:t>Period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400"/>
                  <a:t> · six frequencies ·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 ≈ 0.86</m:t>
                    </m:r>
                  </m:oMath>
                </a14:m>
                <a:r>
                  <a:rPr lang="en-US" sz="1400"/>
                  <a:t>, so predicting the mean gives RMSE ≈ 0.86, the reference for all results.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4D9BDF1-7324-C292-85A7-F3CA54677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46" y="6183897"/>
                <a:ext cx="6096000" cy="523220"/>
              </a:xfrm>
              <a:prstGeom prst="rect">
                <a:avLst/>
              </a:prstGeom>
              <a:blipFill>
                <a:blip r:embed="rId8"/>
                <a:stretch>
                  <a:fillRect l="-416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75FA5553-601F-7E79-E9F4-DBE265BE2BFC}"/>
              </a:ext>
            </a:extLst>
          </p:cNvPr>
          <p:cNvSpPr txBox="1"/>
          <p:nvPr/>
        </p:nvSpPr>
        <p:spPr>
          <a:xfrm>
            <a:off x="2124504" y="4832783"/>
            <a:ext cx="25681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Subset of the 10,000 samples shown.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A3D5E9-A96A-B1AD-5FA6-27BA1DC318C2}"/>
              </a:ext>
            </a:extLst>
          </p:cNvPr>
          <p:cNvSpPr txBox="1"/>
          <p:nvPr/>
        </p:nvSpPr>
        <p:spPr>
          <a:xfrm>
            <a:off x="7162801" y="5643883"/>
            <a:ext cx="45945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/>
              <a:t>Known to the evaluator only; never for fitting or model selection</a:t>
            </a:r>
          </a:p>
        </p:txBody>
      </p:sp>
    </p:spTree>
    <p:extLst>
      <p:ext uri="{BB962C8B-B14F-4D97-AF65-F5344CB8AC3E}">
        <p14:creationId xmlns:p14="http://schemas.microsoft.com/office/powerpoint/2010/main" val="1550547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5C00B21-4600-1E5F-190E-E4B24488B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MLP Base configuration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ECA458C-AB60-4087-7564-4DD426CFE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0375" y="2066028"/>
            <a:ext cx="5083207" cy="384325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US"/>
              <a:t>Architecture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CBDF30D-0609-120E-91C9-378E641AD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9" y="2066028"/>
            <a:ext cx="5422392" cy="443479"/>
          </a:xfrm>
        </p:spPr>
        <p:txBody>
          <a:bodyPr anchor="t"/>
          <a:lstStyle/>
          <a:p>
            <a:pPr marL="0" indent="0" algn="ctr">
              <a:buNone/>
            </a:pPr>
            <a:r>
              <a:rPr lang="en-US" dirty="0"/>
              <a:t>Base model training configuration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B92FE-D293-EEC9-3DCC-90B0FE3D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72601" y="6128342"/>
            <a:ext cx="1052510" cy="365125"/>
          </a:xfrm>
        </p:spPr>
        <p:txBody>
          <a:bodyPr/>
          <a:lstStyle/>
          <a:p>
            <a:fld id="{7D66E208-BCBD-874A-AC3A-9D7D4FA65AE2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73D3015-5571-5AFF-042E-D72C315232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6040074"/>
                  </p:ext>
                </p:extLst>
              </p:nvPr>
            </p:nvGraphicFramePr>
            <p:xfrm>
              <a:off x="6704624" y="2410407"/>
              <a:ext cx="4814079" cy="3870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00458">
                      <a:extLst>
                        <a:ext uri="{9D8B030D-6E8A-4147-A177-3AD203B41FA5}">
                          <a16:colId xmlns:a16="http://schemas.microsoft.com/office/drawing/2014/main" val="375525921"/>
                        </a:ext>
                      </a:extLst>
                    </a:gridCol>
                    <a:gridCol w="2613621">
                      <a:extLst>
                        <a:ext uri="{9D8B030D-6E8A-4147-A177-3AD203B41FA5}">
                          <a16:colId xmlns:a16="http://schemas.microsoft.com/office/drawing/2014/main" val="2576335963"/>
                        </a:ext>
                      </a:extLst>
                    </a:gridCol>
                  </a:tblGrid>
                  <a:tr h="239478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2955504"/>
                      </a:ext>
                    </a:extLst>
                  </a:tr>
                  <a:tr h="284059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Architecture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i="1" smtClean="0">
                                    <a:latin typeface="Cambria Math" panose="02040503050406030204" pitchFamily="18" charset="0"/>
                                    <a:sym typeface="Wingdings" pitchFamily="2" charset="2"/>
                                  </a:rPr>
                                  <m:t> 642561281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17448028"/>
                      </a:ext>
                    </a:extLst>
                  </a:tr>
                  <a:tr h="284059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Parameters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49,793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54852073"/>
                      </a:ext>
                    </a:extLst>
                  </a:tr>
                  <a:tr h="284059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Activation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Tanh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7211587"/>
                      </a:ext>
                    </a:extLst>
                  </a:tr>
                  <a:tr h="284059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Optimizer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Adam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1425499"/>
                      </a:ext>
                    </a:extLst>
                  </a:tr>
                  <a:tr h="284059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Learning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0.001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6861195"/>
                      </a:ext>
                    </a:extLst>
                  </a:tr>
                  <a:tr h="284059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6986968"/>
                      </a:ext>
                    </a:extLst>
                  </a:tr>
                  <a:tr h="497104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Early stopping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/>
                            <a:t>Validation loss, patience </a:t>
                          </a:r>
                          <a14:m>
                            <m:oMath xmlns:m="http://schemas.openxmlformats.org/officeDocument/2006/math"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150</m:t>
                              </m:r>
                            </m:oMath>
                          </a14:m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09998577"/>
                      </a:ext>
                    </a:extLst>
                  </a:tr>
                  <a:tr h="284059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Preprocessing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StandardScaler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191038"/>
                      </a:ext>
                    </a:extLst>
                  </a:tr>
                  <a:tr h="284059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Maximum epochs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20,000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731081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673D3015-5571-5AFF-042E-D72C315232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6040074"/>
                  </p:ext>
                </p:extLst>
              </p:nvPr>
            </p:nvGraphicFramePr>
            <p:xfrm>
              <a:off x="6704624" y="2410407"/>
              <a:ext cx="4814079" cy="3870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00458">
                      <a:extLst>
                        <a:ext uri="{9D8B030D-6E8A-4147-A177-3AD203B41FA5}">
                          <a16:colId xmlns:a16="http://schemas.microsoft.com/office/drawing/2014/main" val="375525921"/>
                        </a:ext>
                      </a:extLst>
                    </a:gridCol>
                    <a:gridCol w="2613621">
                      <a:extLst>
                        <a:ext uri="{9D8B030D-6E8A-4147-A177-3AD203B41FA5}">
                          <a16:colId xmlns:a16="http://schemas.microsoft.com/office/drawing/2014/main" val="257633596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429555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Architecture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4466" t="-82759" r="-1456" b="-9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744802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Parameters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4466" t="-182759" r="-1456" b="-8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485207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Activation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Tanh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721158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Optimizer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Adam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5142549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Learning rate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4466" t="-482759" r="-1456" b="-5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686119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Loss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MSE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6986968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Early stopping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4466" t="-396000" r="-1456" b="-13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999857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Preprocessing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/>
                            <a:t>StandardScaler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319103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Maximum epochs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4466" t="-955172" r="-1456" b="-275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31081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9AB48C-2A05-96FC-8D26-022BD58AC2CA}"/>
                  </a:ext>
                </a:extLst>
              </p:cNvPr>
              <p:cNvSpPr txBox="1"/>
              <p:nvPr/>
            </p:nvSpPr>
            <p:spPr>
              <a:xfrm>
                <a:off x="404168" y="5231558"/>
                <a:ext cx="6115619" cy="1169551"/>
              </a:xfrm>
              <a:prstGeom prst="rect">
                <a:avLst/>
              </a:prstGeom>
              <a:solidFill>
                <a:srgbClr val="F1E6EC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>
                    <a:solidFill>
                      <a:schemeClr val="accent2"/>
                    </a:solidFill>
                  </a:rPr>
                  <a:t>Hypothesis:</a:t>
                </a:r>
                <a:r>
                  <a:rPr lang="en-US" sz="1400">
                    <a:solidFill>
                      <a:schemeClr val="accent2"/>
                    </a:solidFill>
                  </a:rPr>
                  <a:t>  </a:t>
                </a:r>
                <a:r>
                  <a:rPr lang="en-US" sz="1400"/>
                  <a:t>A MLP can fit the training window but has no mechanism to continue periodic structure beyond it.</a:t>
                </a:r>
              </a:p>
              <a:p>
                <a:endParaRPr lang="en-US" sz="1400"/>
              </a:p>
              <a:p>
                <a:r>
                  <a:rPr lang="en-US" sz="1400"/>
                  <a:t>After StandardScaler (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18.1</m:t>
                    </m:r>
                  </m:oMath>
                </a14:m>
                <a:r>
                  <a:rPr lang="en-US" sz="1400"/>
                  <a:t>) the training window maps to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1.7</m:t>
                    </m:r>
                  </m:oMath>
                </a14:m>
                <a:r>
                  <a:rPr lang="en-US" sz="1400"/>
                  <a:t> and the far band to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8.7 – 10.4</m:t>
                    </m:r>
                  </m:oMath>
                </a14:m>
                <a:r>
                  <a:rPr lang="en-US" sz="1400"/>
                  <a:t>, where Tanh saturates and the output flattens.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49AB48C-2A05-96FC-8D26-022BD58AC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68" y="5231558"/>
                <a:ext cx="6115619" cy="1169551"/>
              </a:xfrm>
              <a:prstGeom prst="rect">
                <a:avLst/>
              </a:prstGeom>
              <a:blipFill>
                <a:blip r:embed="rId4"/>
                <a:stretch>
                  <a:fillRect l="-207" t="-1064" b="-4255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88E36444-8AD4-40A8-6D23-A5EE98397E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2441" y="2564567"/>
            <a:ext cx="4721895" cy="264201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D6F6376-C7AF-7DA1-96E8-FC2532A19219}"/>
              </a:ext>
            </a:extLst>
          </p:cNvPr>
          <p:cNvSpPr txBox="1"/>
          <p:nvPr/>
        </p:nvSpPr>
        <p:spPr>
          <a:xfrm>
            <a:off x="6573520" y="6310080"/>
            <a:ext cx="5496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>
                <a:solidFill>
                  <a:schemeClr val="bg2">
                    <a:lumMod val="50000"/>
                  </a:schemeClr>
                </a:solidFill>
              </a:rPr>
              <a:t>This is the ablation reference; the next slide varies one factor at a time</a:t>
            </a:r>
          </a:p>
        </p:txBody>
      </p:sp>
    </p:spTree>
    <p:extLst>
      <p:ext uri="{BB962C8B-B14F-4D97-AF65-F5344CB8AC3E}">
        <p14:creationId xmlns:p14="http://schemas.microsoft.com/office/powerpoint/2010/main" val="1747675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DB691D59-8F51-4DD8-AD41-D568D29B0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04AEF18-0627-48F3-9B3D-F7E8F050B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EAEE08A-C572-438F-9753-B0D527A51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93F09C6-4F57-4B05-9592-E253D8BC6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59623"/>
            <a:ext cx="11303626" cy="2051143"/>
          </a:xfrm>
          <a:prstGeom prst="rect">
            <a:avLst/>
          </a:prstGeom>
          <a:solidFill>
            <a:schemeClr val="tx2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CA3CC4-C77D-F60B-3C4B-E73AAA496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00" y="4596992"/>
            <a:ext cx="3353432" cy="160701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Periodic target:  Ablation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A5484-AC19-0FE2-D135-DB084681FA7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271491" y="4596992"/>
                <a:ext cx="7240909" cy="1607012"/>
              </a:xfrm>
            </p:spPr>
            <p:txBody>
              <a:bodyPr vert="horz" lIns="91440" tIns="45720" rIns="91440" bIns="45720" rtlCol="0" anchor="ctr">
                <a:normAutofit fontScale="77500" lnSpcReduction="20000"/>
              </a:bodyPr>
              <a:lstStyle/>
              <a:p>
                <a:r>
                  <a:rPr lang="en-US">
                    <a:solidFill>
                      <a:schemeClr val="bg2"/>
                    </a:solidFill>
                  </a:rPr>
                  <a:t>Selected by validation RMSE: Tanh, learning rate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0.0001</m:t>
                    </m:r>
                  </m:oMath>
                </a14:m>
                <a:endParaRPr lang="en-US">
                  <a:solidFill>
                    <a:schemeClr val="bg2"/>
                  </a:solidFill>
                </a:endParaRPr>
              </a:p>
              <a:p>
                <a:r>
                  <a:rPr lang="en-US">
                    <a:solidFill>
                      <a:schemeClr val="bg2"/>
                    </a:solidFill>
                  </a:rPr>
                  <a:t>Eight configurations; one factor changed at a time; seed 42; selection by validation RMSE.</a:t>
                </a:r>
              </a:p>
              <a:p>
                <a:r>
                  <a:rPr lang="en-US">
                    <a:solidFill>
                      <a:schemeClr val="bg2"/>
                    </a:solidFill>
                  </a:rPr>
                  <a:t>Interpolation: RMSE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0.0364</m:t>
                    </m:r>
                  </m:oMath>
                </a14:m>
                <a:r>
                  <a:rPr lang="en-US">
                    <a:solidFill>
                      <a:schemeClr val="bg2"/>
                    </a:solidFill>
                  </a:rPr>
                  <a:t>, R²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0.9982</m:t>
                    </m:r>
                  </m:oMath>
                </a14:m>
                <a:endParaRPr lang="en-US">
                  <a:solidFill>
                    <a:schemeClr val="bg2"/>
                  </a:solidFill>
                </a:endParaRPr>
              </a:p>
              <a:p>
                <a:r>
                  <a:rPr lang="en-US">
                    <a:solidFill>
                      <a:schemeClr val="bg2"/>
                    </a:solidFill>
                  </a:rPr>
                  <a:t>Extrapolation: RMSE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1.61</m:t>
                    </m:r>
                  </m:oMath>
                </a14:m>
                <a:r>
                  <a:rPr lang="en-US">
                    <a:solidFill>
                      <a:schemeClr val="bg2"/>
                    </a:solidFill>
                  </a:rPr>
                  <a:t> (near) /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1.95</m:t>
                    </m:r>
                  </m:oMath>
                </a14:m>
                <a:r>
                  <a:rPr lang="en-US">
                    <a:solidFill>
                      <a:schemeClr val="bg2"/>
                    </a:solidFill>
                  </a:rPr>
                  <a:t> (far), worse than predicting the mean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0.86</m:t>
                    </m:r>
                    <m:r>
                      <a:rPr lang="en-US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>
                  <a:solidFill>
                    <a:schemeClr val="bg2"/>
                  </a:solidFill>
                </a:endParaRPr>
              </a:p>
              <a:p>
                <a:pPr lvl="0"/>
                <a:r>
                  <a:rPr lang="en-US">
                    <a:solidFill>
                      <a:schemeClr val="bg2"/>
                    </a:solidFill>
                  </a:rPr>
                  <a:t>ReLU and SiLU diverge off the training range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FA5484-AC19-0FE2-D135-DB084681FA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271491" y="4596992"/>
                <a:ext cx="7240909" cy="160701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BBB6A-20DC-1345-2DC2-940D2FED0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025503"/>
            <a:ext cx="105250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D66E208-BCBD-874A-AC3A-9D7D4FA65AE2}" type="slidenum">
              <a:rPr lang="en-US">
                <a:solidFill>
                  <a:schemeClr val="bg1">
                    <a:alpha val="75000"/>
                  </a:schemeClr>
                </a:solidFill>
              </a:rPr>
              <a:pPr defTabSz="914400">
                <a:spcAft>
                  <a:spcPts val="600"/>
                </a:spcAft>
              </a:pPr>
              <a:t>6</a:t>
            </a:fld>
            <a:endParaRPr lang="en-US">
              <a:solidFill>
                <a:schemeClr val="bg1">
                  <a:alpha val="75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3073A6-FB53-CC35-F9B5-30ADEF3AA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54" y="132190"/>
            <a:ext cx="11309337" cy="40787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F597B78-F1EE-C3DE-A676-C38CA032F4E0}"/>
              </a:ext>
            </a:extLst>
          </p:cNvPr>
          <p:cNvSpPr/>
          <p:nvPr/>
        </p:nvSpPr>
        <p:spPr>
          <a:xfrm>
            <a:off x="781200" y="684387"/>
            <a:ext cx="1228222" cy="32964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       Base MLP</a:t>
            </a:r>
          </a:p>
        </p:txBody>
      </p:sp>
    </p:spTree>
    <p:extLst>
      <p:ext uri="{BB962C8B-B14F-4D97-AF65-F5344CB8AC3E}">
        <p14:creationId xmlns:p14="http://schemas.microsoft.com/office/powerpoint/2010/main" val="193886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25E7-BE3F-D49E-0A50-3C66C2E47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SELECTED MODEL: INTERPOLATION  VS EXTRAPOLATION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79FF72-0FC5-B840-9D7F-CF5CC223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4E4804B-4A28-C9E6-F968-35AEDAFA3A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914639" y="2052320"/>
                <a:ext cx="3830321" cy="408637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 lnSpcReduction="20000"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00" b="1"/>
                  <a:t>Selected Model: </a:t>
                </a:r>
                <a:r>
                  <a:rPr lang="en-US" sz="1600"/>
                  <a:t> </a:t>
                </a:r>
              </a:p>
              <a:p>
                <a:pPr lvl="1"/>
                <a:r>
                  <a:rPr lang="en-US" sz="1400"/>
                  <a:t>Tanh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1400"/>
                  <a:t> [64, 256, 128]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sz="1400"/>
                  <a:t> Learning rate 0.0001</a:t>
                </a:r>
              </a:p>
              <a:p>
                <a:r>
                  <a:rPr lang="en-US" sz="1600" b="1"/>
                  <a:t>Interpolation:</a:t>
                </a:r>
              </a:p>
              <a:p>
                <a:pPr lvl="1"/>
                <a:r>
                  <a:rPr lang="en-US" sz="1400"/>
                  <a:t>Closely matches the observed waveform, held out test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𝑅𝑀𝑆𝐸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 0.0364</m:t>
                    </m:r>
                  </m:oMath>
                </a14:m>
                <a:endParaRPr lang="en-US" sz="1400"/>
              </a:p>
              <a:p>
                <a:r>
                  <a:rPr lang="en-US" sz="1600" b="1"/>
                  <a:t>Near extrapolation: </a:t>
                </a:r>
              </a:p>
              <a:p>
                <a:pPr lvl="1"/>
                <a:r>
                  <a:rPr lang="en-US" sz="1400"/>
                  <a:t>Deviates beyond the training boundary and approaches a constant; near RMSE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1.6058.</m:t>
                    </m:r>
                  </m:oMath>
                </a14:m>
                <a:endParaRPr lang="en-US" sz="1400"/>
              </a:p>
              <a:p>
                <a:r>
                  <a:rPr lang="en-US" sz="1600" b="1"/>
                  <a:t>Far extrapolation:</a:t>
                </a:r>
              </a:p>
              <a:p>
                <a:pPr lvl="1"/>
                <a:r>
                  <a:rPr lang="en-US" sz="1400"/>
                  <a:t>Flat output at about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−1.75</m:t>
                    </m:r>
                  </m:oMath>
                </a14:m>
                <a:r>
                  <a:rPr lang="en-US" sz="1400"/>
                  <a:t>, no oscillation;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𝑅𝑀𝑆𝐸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 1.95</m:t>
                    </m:r>
                  </m:oMath>
                </a14:m>
                <a:r>
                  <a:rPr lang="en-US" sz="1400"/>
                  <a:t>, worse than predicting the mean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0.86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/>
              </a:p>
              <a:p>
                <a:r>
                  <a:rPr lang="en-US" sz="1600" b="1"/>
                  <a:t>Takeaway:</a:t>
                </a:r>
              </a:p>
              <a:p>
                <a:pPr lvl="1"/>
                <a:r>
                  <a:rPr lang="en-US" sz="1400" b="1"/>
                  <a:t>Accurate interpolation does not establish reliable periodic extrapolation.</a:t>
                </a:r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4E4804B-4A28-C9E6-F968-35AEDAFA3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639" y="2052320"/>
                <a:ext cx="3830321" cy="4086379"/>
              </a:xfrm>
              <a:prstGeom prst="rect">
                <a:avLst/>
              </a:prstGeom>
              <a:blipFill>
                <a:blip r:embed="rId2"/>
                <a:stretch>
                  <a:fillRect l="-331" r="-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1">
            <a:extLst>
              <a:ext uri="{FF2B5EF4-FFF2-40B4-BE49-F238E27FC236}">
                <a16:creationId xmlns:a16="http://schemas.microsoft.com/office/drawing/2014/main" id="{3FB07523-B5AB-62E7-2240-D2976BB24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68" y="1901926"/>
            <a:ext cx="7437121" cy="461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50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FD686-61D7-8849-4CCC-615867244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Snake Activation MLP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F1F7CA8-A366-FB7A-47B1-426B0C12848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t="6121"/>
          <a:stretch>
            <a:fillRect/>
          </a:stretch>
        </p:blipFill>
        <p:spPr>
          <a:xfrm>
            <a:off x="245744" y="1938071"/>
            <a:ext cx="7307383" cy="40180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E1F908D-CEA8-0A2E-7B1A-BFC9F0EE404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630161" y="1938071"/>
                <a:ext cx="3881120" cy="4383191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b="1"/>
                  <a:t>Model:</a:t>
                </a:r>
              </a:p>
              <a:p>
                <a:pPr lvl="1"/>
                <a:r>
                  <a:rPr lang="en-US"/>
                  <a:t>Snake MLP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/>
                  <a:t> [64, 256, 128]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/>
                  <a:t> raw X</a:t>
                </a:r>
              </a:p>
              <a:p>
                <a:r>
                  <a:rPr lang="en-US" b="1"/>
                  <a:t>Interpolation:</a:t>
                </a:r>
              </a:p>
              <a:p>
                <a:pPr lvl="1"/>
                <a:r>
                  <a:rPr lang="en-US"/>
                  <a:t>Closely matches the waverform; held-out test RMSE 0.0055</a:t>
                </a:r>
              </a:p>
              <a:p>
                <a:r>
                  <a:rPr lang="en-US" b="1"/>
                  <a:t>Near extrapolation:</a:t>
                </a:r>
              </a:p>
              <a:p>
                <a:pPr lvl="1"/>
                <a:r>
                  <a:rPr lang="en-US"/>
                  <a:t>Follows the waveform past the boundary; RMSE 0.122</a:t>
                </a:r>
              </a:p>
              <a:p>
                <a:r>
                  <a:rPr lang="en-US" b="1"/>
                  <a:t>Far extrapolation:</a:t>
                </a:r>
              </a:p>
              <a:p>
                <a:pPr lvl="1"/>
                <a:r>
                  <a:rPr lang="en-US"/>
                  <a:t>Oscillations persist, but peak amplitudes and waveform details deviate; RMSE 0.387 ( Tanh 1.95; mean 0.86)</a:t>
                </a:r>
              </a:p>
              <a:p>
                <a:r>
                  <a:rPr lang="en-US" b="1"/>
                  <a:t>Takeaway:</a:t>
                </a:r>
              </a:p>
              <a:p>
                <a:pPr lvl="1"/>
                <a:r>
                  <a:rPr lang="en-US"/>
                  <a:t>The selected Snake MLP retained oscillatory structure beyond training, but error increased across the evaluated bands</a:t>
                </a:r>
                <a:r>
                  <a:rPr lang="en-US" b="1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E1F908D-CEA8-0A2E-7B1A-BFC9F0EE40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630161" y="1938071"/>
                <a:ext cx="3881120" cy="4383191"/>
              </a:xfrm>
              <a:blipFill>
                <a:blip r:embed="rId3"/>
                <a:stretch>
                  <a:fillRect r="-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191E7-639C-CB4C-5E51-C03A2426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AF59EB-C7EC-0B17-8068-6E7AD382A6BD}"/>
                  </a:ext>
                </a:extLst>
              </p:cNvPr>
              <p:cNvSpPr txBox="1"/>
              <p:nvPr/>
            </p:nvSpPr>
            <p:spPr>
              <a:xfrm>
                <a:off x="581190" y="6257836"/>
                <a:ext cx="7193280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i="1">
                    <a:solidFill>
                      <a:schemeClr val="bg2">
                        <a:lumMod val="50000"/>
                      </a:schemeClr>
                    </a:solidFill>
                  </a:rPr>
                  <a:t>Snake: </a:t>
                </a:r>
                <a14:m>
                  <m:oMath xmlns:m="http://schemas.openxmlformats.org/officeDocument/2006/math">
                    <m:r>
                      <a:rPr lang="en-US" sz="11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1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𝑠𝑖𝑛</m:t>
                            </m:r>
                          </m:e>
                          <m:sup>
                            <m:r>
                              <a:rPr lang="en-US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sz="1100" b="0" i="1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sz="1100" b="0" i="1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US" sz="1100" i="1">
                    <a:solidFill>
                      <a:schemeClr val="bg2">
                        <a:lumMod val="50000"/>
                      </a:schemeClr>
                    </a:solidFill>
                  </a:rPr>
                  <a:t>, </a:t>
                </a:r>
                <a:r>
                  <a:rPr lang="en-US" sz="1100">
                    <a:solidFill>
                      <a:schemeClr val="bg2">
                        <a:lumMod val="50000"/>
                      </a:schemeClr>
                    </a:solidFill>
                  </a:rPr>
                  <a:t>Trainable 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100">
                    <a:solidFill>
                      <a:schemeClr val="bg2">
                        <a:lumMod val="50000"/>
                      </a:schemeClr>
                    </a:solidFill>
                  </a:rPr>
                  <a:t> per neuron · Adam LR 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0.001</m:t>
                    </m:r>
                  </m:oMath>
                </a14:m>
                <a:r>
                  <a:rPr lang="en-US" sz="1100">
                    <a:solidFill>
                      <a:schemeClr val="bg2">
                        <a:lumMod val="50000"/>
                      </a:schemeClr>
                    </a:solidFill>
                  </a:rPr>
                  <a:t> for weights and 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100">
                    <a:solidFill>
                      <a:schemeClr val="bg2">
                        <a:lumMod val="50000"/>
                      </a:schemeClr>
                    </a:solidFill>
                  </a:rPr>
                  <a:t>· Batch 128 · Maximum 8,000 epochs · Patience 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1,500</m:t>
                    </m:r>
                  </m:oMath>
                </a14:m>
                <a:r>
                  <a:rPr lang="en-US" sz="1100">
                    <a:solidFill>
                      <a:schemeClr val="bg2">
                        <a:lumMod val="50000"/>
                      </a:schemeClr>
                    </a:solidFill>
                  </a:rPr>
                  <a:t> · Seed </a:t>
                </a:r>
                <a14:m>
                  <m:oMath xmlns:m="http://schemas.openxmlformats.org/officeDocument/2006/math">
                    <m:r>
                      <a:rPr lang="en-US" sz="110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endParaRPr lang="en-US" sz="110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endParaRPr lang="en-US" sz="1100" i="1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AF59EB-C7EC-0B17-8068-6E7AD382A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0" y="6257836"/>
                <a:ext cx="7193280" cy="6001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5667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AB9B6-73EC-AFD4-534E-3C82A8FE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a fourier regressor?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FA96AC-640D-C74D-72CF-703C02D480D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24088" y="2082680"/>
                <a:ext cx="4357697" cy="4238582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Motivation</a:t>
                </a:r>
              </a:p>
              <a:p>
                <a:r>
                  <a:rPr lang="en-US" dirty="0"/>
                  <a:t>The selected Tanh MLP interpolated accurately but flattened outside the training window.</a:t>
                </a:r>
              </a:p>
              <a:p>
                <a:r>
                  <a:rPr lang="en-US" dirty="0"/>
                  <a:t>Snake continued the oscillations, but error still grew with distance.</a:t>
                </a:r>
              </a:p>
              <a:p>
                <a:r>
                  <a:rPr lang="en-US" dirty="0"/>
                  <a:t>A sum of sinusoids builds persistent oscillatory components into the representation.</a:t>
                </a:r>
              </a:p>
              <a:p>
                <a:pPr marL="0" indent="0">
                  <a:buNone/>
                </a:pPr>
                <a:r>
                  <a:rPr lang="en-US" b="1" dirty="0"/>
                  <a:t>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acc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𝝎</m:t>
                                          </m:r>
                                        </m:e>
                                        <m:sub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func>
                                <m:func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𝝎</m:t>
                                          </m:r>
                                        </m:e>
                                        <m:sub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𝒌</m:t>
                                          </m:r>
                                        </m:sub>
                                      </m:s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b="1" dirty="0"/>
              </a:p>
              <a:p>
                <a:r>
                  <a:rPr lang="en-US" dirty="0"/>
                  <a:t>Learn frequencies, sin/cos weights, and bias from samples.</a:t>
                </a:r>
              </a:p>
              <a:p>
                <a:r>
                  <a:rPr lang="en-US" dirty="0"/>
                  <a:t>No target period or frequency is hardcoded.</a:t>
                </a:r>
              </a:p>
              <a:p>
                <a:r>
                  <a:rPr lang="en-US" dirty="0"/>
                  <a:t>K = 8: 8 frequencies + 16 amplitudes +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bias = 25 trainable parameters.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FA96AC-640D-C74D-72CF-703C02D48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24088" y="2082680"/>
                <a:ext cx="4357697" cy="4238582"/>
              </a:xfrm>
              <a:blipFill>
                <a:blip r:embed="rId2"/>
                <a:stretch>
                  <a:fillRect l="-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6C9379-517C-0A8A-FC2A-3340738B4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8F5D1ECE-8A91-1336-E631-03034AB104C2}"/>
                  </a:ext>
                </a:extLst>
              </p:cNvPr>
              <p:cNvSpPr/>
              <p:nvPr/>
            </p:nvSpPr>
            <p:spPr>
              <a:xfrm>
                <a:off x="4881785" y="2971800"/>
                <a:ext cx="914400" cy="9144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Input</a:t>
                </a: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8F5D1ECE-8A91-1336-E631-03034AB10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785" y="2971800"/>
                <a:ext cx="914400" cy="9144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918BC3FE-600D-F592-2A00-DEBEC3ACF0A6}"/>
                  </a:ext>
                </a:extLst>
              </p:cNvPr>
              <p:cNvSpPr/>
              <p:nvPr/>
            </p:nvSpPr>
            <p:spPr>
              <a:xfrm>
                <a:off x="6191295" y="2618272"/>
                <a:ext cx="2421467" cy="162145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accent2"/>
                  </a:buClr>
                  <a:buSzPct val="92000"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func>
                        <m:func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ctr">
                  <a:buClr>
                    <a:schemeClr val="accent2"/>
                  </a:buClr>
                  <a:buSzPct val="92000"/>
                </a:pPr>
                <a14:m>
                  <m:oMathPara xmlns:m="http://schemas.openxmlformats.org/officeDocument/2006/math">
                    <m:oMath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1400" dirty="0"/>
              </a:p>
              <a:p>
                <a:pPr algn="ctr">
                  <a:buClr>
                    <a:schemeClr val="accent2"/>
                  </a:buClr>
                  <a:buSzPct val="92000"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en-US" sz="14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ctr">
                  <a:buClr>
                    <a:schemeClr val="accent2"/>
                  </a:buClr>
                  <a:buSzPct val="92000"/>
                </a:pPr>
                <a:endParaRPr lang="en-US" sz="1400" dirty="0"/>
              </a:p>
              <a:p>
                <a:pPr algn="ctr">
                  <a:buClr>
                    <a:schemeClr val="accent2"/>
                  </a:buClr>
                  <a:buSzPct val="92000"/>
                </a:pP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⋮</m:t>
                    </m:r>
                  </m:oMath>
                </a14:m>
                <a:r>
                  <a:rPr lang="en-US" sz="1400" dirty="0"/>
                  <a:t>                  </a:t>
                </a:r>
              </a:p>
              <a:p>
                <a:pPr algn="ctr">
                  <a:buClr>
                    <a:schemeClr val="accent2"/>
                  </a:buClr>
                  <a:buSzPct val="92000"/>
                </a:pPr>
                <a:endParaRPr lang="en-US" sz="1400" dirty="0"/>
              </a:p>
              <a:p>
                <a:pPr algn="ctr">
                  <a:buClr>
                    <a:schemeClr val="accent2"/>
                  </a:buClr>
                  <a:buSzPct val="92000"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func>
                        <m:func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en-US" sz="1400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lang="en-US" sz="1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918BC3FE-600D-F592-2A00-DEBEC3ACF0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295" y="2618272"/>
                <a:ext cx="2421467" cy="162145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83E02AD-4C74-C0DC-306B-2F7875335FB7}"/>
              </a:ext>
            </a:extLst>
          </p:cNvPr>
          <p:cNvSpPr/>
          <p:nvPr/>
        </p:nvSpPr>
        <p:spPr>
          <a:xfrm>
            <a:off x="8930237" y="2707922"/>
            <a:ext cx="1443842" cy="14421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Sum + Bias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F7F1A871-1748-89D0-5605-7C49F49D1328}"/>
                  </a:ext>
                </a:extLst>
              </p:cNvPr>
              <p:cNvSpPr/>
              <p:nvPr/>
            </p:nvSpPr>
            <p:spPr>
              <a:xfrm>
                <a:off x="10609575" y="2838752"/>
                <a:ext cx="1281480" cy="118049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Prediction</a:t>
                </a:r>
              </a:p>
              <a:p>
                <a:pPr algn="ctr">
                  <a:buClr>
                    <a:schemeClr val="accent2"/>
                  </a:buClr>
                  <a:buSzPct val="92000"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acc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F7F1A871-1748-89D0-5605-7C49F49D13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9575" y="2838752"/>
                <a:ext cx="1281480" cy="118049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DCBCFB-321A-0799-E58A-73D980A0517B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5796185" y="3429000"/>
            <a:ext cx="3951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86EF9D1-6289-1555-4618-A8E4A84ED89A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8612762" y="3429000"/>
            <a:ext cx="3174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6D2385-7EED-753F-1D1C-6D2E17CCF2A4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10374079" y="3429000"/>
            <a:ext cx="2354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84FF9A-322F-0BC2-0857-9F39DE2F86F1}"/>
                  </a:ext>
                </a:extLst>
              </p:cNvPr>
              <p:cNvSpPr txBox="1"/>
              <p:nvPr/>
            </p:nvSpPr>
            <p:spPr>
              <a:xfrm>
                <a:off x="6280039" y="2192135"/>
                <a:ext cx="22439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learned terms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1400" b="1" dirty="0"/>
                  <a:t>, b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84FF9A-322F-0BC2-0857-9F39DE2F86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039" y="2192135"/>
                <a:ext cx="2243977" cy="307777"/>
              </a:xfrm>
              <a:prstGeom prst="rect">
                <a:avLst/>
              </a:prstGeom>
              <a:blipFill>
                <a:blip r:embed="rId6"/>
                <a:stretch>
                  <a:fillRect l="-1124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9E90143F-7F31-1BDE-24E6-1FC2E9420811}"/>
                  </a:ext>
                </a:extLst>
              </p:cNvPr>
              <p:cNvSpPr/>
              <p:nvPr/>
            </p:nvSpPr>
            <p:spPr>
              <a:xfrm>
                <a:off x="4881785" y="4476448"/>
                <a:ext cx="7009269" cy="1442154"/>
              </a:xfrm>
              <a:prstGeom prst="roundRect">
                <a:avLst/>
              </a:prstGeom>
              <a:solidFill>
                <a:srgbClr val="F1E6EC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accent2"/>
                    </a:solidFill>
                  </a:rPr>
                  <a:t>Why it can extrapolate</a:t>
                </a:r>
              </a:p>
              <a:p>
                <a:r>
                  <a:rPr lang="en-US" sz="1400" dirty="0">
                    <a:solidFill>
                      <a:schemeClr val="bg2">
                        <a:lumMod val="50000"/>
                      </a:schemeClr>
                    </a:solidFill>
                  </a:rPr>
                  <a:t>A frequency error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𝛿𝜔</m:t>
                    </m:r>
                  </m:oMath>
                </a14:m>
                <a:r>
                  <a:rPr lang="en-US" sz="1400" dirty="0">
                    <a:solidFill>
                      <a:schemeClr val="bg2">
                        <a:lumMod val="50000"/>
                      </a:schemeClr>
                    </a:solidFill>
                  </a:rPr>
                  <a:t> becomes a phase error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𝛿𝜔</m:t>
                    </m:r>
                    <m:r>
                      <a:rPr lang="en-US" sz="140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1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400" dirty="0">
                    <a:solidFill>
                      <a:schemeClr val="bg2">
                        <a:lumMod val="50000"/>
                      </a:schemeClr>
                    </a:solidFill>
                  </a:rPr>
                  <a:t>, so accuracy far from the training data depends on how precisely the frequencies are recovered. </a:t>
                </a:r>
              </a:p>
              <a:p>
                <a:br>
                  <a:rPr lang="en-US" sz="1400" dirty="0">
                    <a:solidFill>
                      <a:schemeClr val="bg2">
                        <a:lumMod val="50000"/>
                      </a:schemeClr>
                    </a:solidFill>
                  </a:rPr>
                </a:br>
                <a:r>
                  <a:rPr lang="en-US" sz="1400" i="1" dirty="0">
                    <a:solidFill>
                      <a:schemeClr val="bg2">
                        <a:lumMod val="50000"/>
                      </a:schemeClr>
                    </a:solidFill>
                  </a:rPr>
                  <a:t>Frequencies are searched within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400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∈[0.1,20]</m:t>
                    </m:r>
                  </m:oMath>
                </a14:m>
                <a:r>
                  <a:rPr lang="en-US" sz="1400" i="1" dirty="0">
                    <a:solidFill>
                      <a:schemeClr val="bg2">
                        <a:lumMod val="50000"/>
                      </a:schemeClr>
                    </a:solidFill>
                  </a:rPr>
                  <a:t> (a stated assumption) </a:t>
                </a:r>
              </a:p>
            </p:txBody>
          </p:sp>
        </mc:Choice>
        <mc:Fallback xmlns=""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9E90143F-7F31-1BDE-24E6-1FC2E94208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785" y="4476448"/>
                <a:ext cx="7009269" cy="1442154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06D799DD-C925-8CA2-1C84-C6DBE0575A75}"/>
              </a:ext>
            </a:extLst>
          </p:cNvPr>
          <p:cNvSpPr txBox="1"/>
          <p:nvPr/>
        </p:nvSpPr>
        <p:spPr>
          <a:xfrm>
            <a:off x="9449361" y="6596390"/>
            <a:ext cx="274263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Note: 20 is an assumed search bandwidth.</a:t>
            </a:r>
          </a:p>
        </p:txBody>
      </p:sp>
    </p:spTree>
    <p:extLst>
      <p:ext uri="{BB962C8B-B14F-4D97-AF65-F5344CB8AC3E}">
        <p14:creationId xmlns:p14="http://schemas.microsoft.com/office/powerpoint/2010/main" val="1253024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A41C1-832C-DCD2-FE27-0AA884DDE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Random initialization – Experiments &amp; findings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DACE8A-EDF4-7663-0BF1-F78BBA6846B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197600" y="1902940"/>
                <a:ext cx="5019040" cy="166327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1600" b="1"/>
                  <a:t>Question</a:t>
                </a:r>
              </a:p>
              <a:p>
                <a:pPr lvl="1"/>
                <a:r>
                  <a:rPr lang="en-US" sz="1400"/>
                  <a:t>Can gradient-based optimization learn the frequencies from random starting values?</a:t>
                </a:r>
              </a:p>
              <a:p>
                <a:r>
                  <a:rPr lang="en-US" sz="1600" b="1"/>
                  <a:t>Tested</a:t>
                </a:r>
              </a:p>
              <a:p>
                <a:pPr lvl="1"/>
                <a:r>
                  <a:rPr lang="en-US" sz="1400"/>
                  <a:t>Adam(lr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0.001, 0.003, 0.01</m:t>
                    </m:r>
                  </m:oMath>
                </a14:m>
                <a:r>
                  <a:rPr lang="en-US" sz="1400"/>
                  <a:t>); uniform vs log-uniform random frequencies; </a:t>
                </a:r>
                <a14:m>
                  <m:oMath xmlns:m="http://schemas.openxmlformats.org/officeDocument/2006/math">
                    <m:r>
                      <a:rPr lang="en-US" sz="140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 = 8 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1400" i="1" smtClean="0">
                        <a:latin typeface="Cambria Math" panose="02040503050406030204" pitchFamily="18" charset="0"/>
                      </a:rPr>
                      <m:t> 128</m:t>
                    </m:r>
                  </m:oMath>
                </a14:m>
                <a:endParaRPr lang="en-US" sz="14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DACE8A-EDF4-7663-0BF1-F78BBA6846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197600" y="1902940"/>
                <a:ext cx="5019040" cy="1663277"/>
              </a:xfrm>
              <a:blipFill>
                <a:blip r:embed="rId3"/>
                <a:stretch>
                  <a:fillRect l="-253" b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30A6B564-5620-BB0A-4F45-2E29746E6211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638117081"/>
                  </p:ext>
                </p:extLst>
              </p:nvPr>
            </p:nvGraphicFramePr>
            <p:xfrm>
              <a:off x="6563360" y="3751166"/>
              <a:ext cx="5374777" cy="16668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03031">
                      <a:extLst>
                        <a:ext uri="{9D8B030D-6E8A-4147-A177-3AD203B41FA5}">
                          <a16:colId xmlns:a16="http://schemas.microsoft.com/office/drawing/2014/main" val="1284252447"/>
                        </a:ext>
                      </a:extLst>
                    </a:gridCol>
                    <a:gridCol w="960011">
                      <a:extLst>
                        <a:ext uri="{9D8B030D-6E8A-4147-A177-3AD203B41FA5}">
                          <a16:colId xmlns:a16="http://schemas.microsoft.com/office/drawing/2014/main" val="4184776550"/>
                        </a:ext>
                      </a:extLst>
                    </a:gridCol>
                    <a:gridCol w="807089">
                      <a:extLst>
                        <a:ext uri="{9D8B030D-6E8A-4147-A177-3AD203B41FA5}">
                          <a16:colId xmlns:a16="http://schemas.microsoft.com/office/drawing/2014/main" val="561419326"/>
                        </a:ext>
                      </a:extLst>
                    </a:gridCol>
                    <a:gridCol w="824080">
                      <a:extLst>
                        <a:ext uri="{9D8B030D-6E8A-4147-A177-3AD203B41FA5}">
                          <a16:colId xmlns:a16="http://schemas.microsoft.com/office/drawing/2014/main" val="3089318990"/>
                        </a:ext>
                      </a:extLst>
                    </a:gridCol>
                    <a:gridCol w="880566">
                      <a:extLst>
                        <a:ext uri="{9D8B030D-6E8A-4147-A177-3AD203B41FA5}">
                          <a16:colId xmlns:a16="http://schemas.microsoft.com/office/drawing/2014/main" val="3114264576"/>
                        </a:ext>
                      </a:extLst>
                    </a:gridCol>
                  </a:tblGrid>
                  <a:tr h="3828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Configuration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Params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Val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Near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Far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0851513"/>
                      </a:ext>
                    </a:extLst>
                  </a:tr>
                  <a:tr h="382894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Uniform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=8</m:t>
                              </m:r>
                            </m:oMath>
                          </a14:m>
                          <a:r>
                            <a:rPr lang="en-US" sz="1400"/>
                            <a:t>, Adam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0.8610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0.8654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0.8654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3117533"/>
                      </a:ext>
                    </a:extLst>
                  </a:tr>
                  <a:tr h="514594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Log-uniform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=128</m:t>
                              </m:r>
                            </m:oMath>
                          </a14:m>
                          <a:r>
                            <a:rPr lang="en-US" sz="1400"/>
                            <a:t>, Adam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385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0.1375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0.2401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i="1" smtClean="0">
                                    <a:latin typeface="Cambria Math" panose="02040503050406030204" pitchFamily="18" charset="0"/>
                                  </a:rPr>
                                  <m:t>0.6202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82517025"/>
                      </a:ext>
                    </a:extLst>
                  </a:tr>
                  <a:tr h="382894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Predict the 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14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86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0.86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0.86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591156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30A6B564-5620-BB0A-4F45-2E29746E6211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638117081"/>
                  </p:ext>
                </p:extLst>
              </p:nvPr>
            </p:nvGraphicFramePr>
            <p:xfrm>
              <a:off x="6563360" y="3751166"/>
              <a:ext cx="5374777" cy="16668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03031">
                      <a:extLst>
                        <a:ext uri="{9D8B030D-6E8A-4147-A177-3AD203B41FA5}">
                          <a16:colId xmlns:a16="http://schemas.microsoft.com/office/drawing/2014/main" val="1284252447"/>
                        </a:ext>
                      </a:extLst>
                    </a:gridCol>
                    <a:gridCol w="960011">
                      <a:extLst>
                        <a:ext uri="{9D8B030D-6E8A-4147-A177-3AD203B41FA5}">
                          <a16:colId xmlns:a16="http://schemas.microsoft.com/office/drawing/2014/main" val="4184776550"/>
                        </a:ext>
                      </a:extLst>
                    </a:gridCol>
                    <a:gridCol w="807089">
                      <a:extLst>
                        <a:ext uri="{9D8B030D-6E8A-4147-A177-3AD203B41FA5}">
                          <a16:colId xmlns:a16="http://schemas.microsoft.com/office/drawing/2014/main" val="561419326"/>
                        </a:ext>
                      </a:extLst>
                    </a:gridCol>
                    <a:gridCol w="824080">
                      <a:extLst>
                        <a:ext uri="{9D8B030D-6E8A-4147-A177-3AD203B41FA5}">
                          <a16:colId xmlns:a16="http://schemas.microsoft.com/office/drawing/2014/main" val="3089318990"/>
                        </a:ext>
                      </a:extLst>
                    </a:gridCol>
                    <a:gridCol w="880566">
                      <a:extLst>
                        <a:ext uri="{9D8B030D-6E8A-4147-A177-3AD203B41FA5}">
                          <a16:colId xmlns:a16="http://schemas.microsoft.com/office/drawing/2014/main" val="3114264576"/>
                        </a:ext>
                      </a:extLst>
                    </a:gridCol>
                  </a:tblGrid>
                  <a:tr h="38289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Configuration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Params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Val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Near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/>
                            <a:t>Far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0851513"/>
                      </a:ext>
                    </a:extLst>
                  </a:tr>
                  <a:tr h="3828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00000" r="-184667" b="-2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368" t="-100000" r="-264474" b="-2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53125" t="-100000" r="-214063" b="-2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46154" t="-100000" r="-110769" b="-232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7143" t="-100000" r="-2857" b="-2322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311753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t="-151220" r="-184667" b="-756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368" t="-151220" r="-264474" b="-756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53125" t="-151220" r="-214063" b="-756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46154" t="-151220" r="-110769" b="-756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7143" t="-151220" r="-2857" b="-756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2517025"/>
                      </a:ext>
                    </a:extLst>
                  </a:tr>
                  <a:tr h="382894"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Predict the 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7368" t="-343333" r="-264474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53125" t="-343333" r="-214063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46154" t="-343333" r="-11076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7143" t="-343333" r="-2857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5911568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9FE149-2887-6DFB-42BA-56F722389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5DF724D5-F85F-46F8-2147-44F5EC03E21C}"/>
                  </a:ext>
                </a:extLst>
              </p:cNvPr>
              <p:cNvSpPr/>
              <p:nvPr/>
            </p:nvSpPr>
            <p:spPr>
              <a:xfrm>
                <a:off x="1219199" y="5784342"/>
                <a:ext cx="9895841" cy="801199"/>
              </a:xfrm>
              <a:prstGeom prst="roundRect">
                <a:avLst/>
              </a:prstGeom>
              <a:solidFill>
                <a:srgbClr val="F1E6EC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b="1" dirty="0">
                    <a:solidFill>
                      <a:schemeClr val="accent2"/>
                    </a:solidFill>
                  </a:rPr>
                  <a:t>Takeaway: </a:t>
                </a:r>
                <a:r>
                  <a:rPr lang="en-US" sz="1600" dirty="0">
                    <a:solidFill>
                      <a:schemeClr val="tx2"/>
                    </a:solidFill>
                  </a:rPr>
                  <a:t>The tested random-initialization configurations did not achieve the spectral model’s accuracy: the same-size model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6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=8)</m:t>
                    </m:r>
                  </m:oMath>
                </a14:m>
                <a:r>
                  <a:rPr lang="en-US" sz="1600" dirty="0">
                    <a:solidFill>
                      <a:schemeClr val="tx2"/>
                    </a:solidFill>
                  </a:rPr>
                  <a:t> collapses to the mean, and a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sz="16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600" dirty="0">
                    <a:solidFill>
                      <a:schemeClr val="tx2"/>
                    </a:solidFill>
                  </a:rPr>
                  <a:t> larger one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6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=128) </m:t>
                    </m:r>
                  </m:oMath>
                </a14:m>
                <a:r>
                  <a:rPr lang="en-US" sz="1600" dirty="0">
                    <a:solidFill>
                      <a:schemeClr val="tx2"/>
                    </a:solidFill>
                  </a:rPr>
                  <a:t>fit the window but its phase error grows with distance.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5DF724D5-F85F-46F8-2147-44F5EC03E2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199" y="5784342"/>
                <a:ext cx="9895841" cy="801199"/>
              </a:xfrm>
              <a:prstGeom prst="roundRect">
                <a:avLst/>
              </a:prstGeom>
              <a:blipFill>
                <a:blip r:embed="rId5"/>
                <a:stretch>
                  <a:fillRect t="-1515" b="-1060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85309F9-79CD-95B8-C2FB-16568BE23A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488" y="2020531"/>
            <a:ext cx="5932112" cy="346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600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4595-E748-9F16-465A-ED860AC83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Spectral initialization – Estimating frequencies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C96E2-1A4A-3708-3BD7-171120962F0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81196" y="2045204"/>
                <a:ext cx="5422390" cy="3633047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b="1"/>
                  <a:t>Motivation</a:t>
                </a:r>
              </a:p>
              <a:p>
                <a:r>
                  <a:rPr lang="en-US"/>
                  <a:t>Random initialization did not recover the frequencies (previous slide): K= 8 collapsed to the mean, and K=128 had phase error that grew with distance.</a:t>
                </a:r>
              </a:p>
              <a:p>
                <a:r>
                  <a:rPr lang="en-US"/>
                  <a:t>Instead, Fit a sinusoid to the unexplained signal: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𝝎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𝒓</m:t>
                                          </m:r>
                                        </m:e>
                                        <m:sub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𝒃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  <m:func>
                                        <m:funcPr>
                                          <m:ctrl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b="1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𝝎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func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𝒄</m:t>
                                      </m:r>
                                      <m:func>
                                        <m:funcPr>
                                          <m:ctrl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b="0" i="0" smtClean="0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b="1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1" i="1" smtClean="0">
                                                  <a:latin typeface="Cambria Math" panose="02040503050406030204" pitchFamily="18" charset="0"/>
                                                </a:rPr>
                                                <m:t>𝝎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𝒙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func>
                                    </m:e>
                                  </m:d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b="1"/>
              </a:p>
              <a:p>
                <a:r>
                  <a:rPr lang="en-US"/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 is the training residual over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/>
                  <a:t> samples; initially,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 (the mean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C96E2-1A4A-3708-3BD7-171120962F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81196" y="2045204"/>
                <a:ext cx="5422390" cy="3633047"/>
              </a:xfrm>
              <a:blipFill>
                <a:blip r:embed="rId2"/>
                <a:stretch>
                  <a:fillRect l="-935" t="-697" r="-1869" b="-76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F9222BA-9602-0392-7EB2-BAB8816088C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88415" y="2045204"/>
                <a:ext cx="5422392" cy="3633047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b="1"/>
                  <a:t>Method</a:t>
                </a:r>
              </a:p>
              <a:p>
                <a:pPr lvl="1"/>
                <a:r>
                  <a:rPr lang="en-US" b="1">
                    <a:solidFill>
                      <a:schemeClr val="accent2"/>
                    </a:solidFill>
                  </a:rPr>
                  <a:t>Score:</a:t>
                </a:r>
                <a:r>
                  <a:rPr lang="en-US"/>
                  <a:t> Use Lomb–Scargle on the residual, 4,096-point grid over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[0.1, 20].</m:t>
                    </m:r>
                  </m:oMath>
                </a14:m>
                <a:endParaRPr lang="en-US"/>
              </a:p>
              <a:p>
                <a:pPr lvl="1"/>
                <a:r>
                  <a:rPr lang="en-US" b="1">
                    <a:solidFill>
                      <a:schemeClr val="accent2"/>
                    </a:solidFill>
                  </a:rPr>
                  <a:t>Select:</a:t>
                </a:r>
                <a:r>
                  <a:rPr lang="en-US"/>
                  <a:t> Strongest peak not within the minimum separation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𝑠𝑝𝑎𝑛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of a chosen frequency.</a:t>
                </a:r>
              </a:p>
              <a:p>
                <a:pPr lvl="1"/>
                <a:r>
                  <a:rPr lang="en-US" b="1">
                    <a:solidFill>
                      <a:schemeClr val="accent2"/>
                    </a:solidFill>
                  </a:rPr>
                  <a:t>Refine: </a:t>
                </a:r>
                <a:r>
                  <a:rPr lang="en-US"/>
                  <a:t>Bounded local search around that grid point.</a:t>
                </a:r>
                <a:endParaRPr lang="en-US" b="1"/>
              </a:p>
              <a:p>
                <a:pPr lvl="1"/>
                <a:r>
                  <a:rPr lang="en-US" b="1">
                    <a:solidFill>
                      <a:schemeClr val="accent2"/>
                    </a:solidFill>
                  </a:rPr>
                  <a:t>Refit:</a:t>
                </a:r>
                <a:r>
                  <a:rPr lang="en-US"/>
                  <a:t> All sine/cosine coefficients and bias against the original training labels.</a:t>
                </a:r>
              </a:p>
              <a:p>
                <a:pPr lvl="1"/>
                <a:r>
                  <a:rPr lang="en-US" b="1">
                    <a:solidFill>
                      <a:schemeClr val="accent2"/>
                    </a:solidFill>
                  </a:rPr>
                  <a:t>Repeat:</a:t>
                </a:r>
                <a:r>
                  <a:rPr lang="en-US"/>
                  <a:t> Update the residual; K=8 rounds.</a:t>
                </a:r>
              </a:p>
              <a:p>
                <a:pPr lvl="1"/>
                <a:r>
                  <a:rPr lang="en-US" b="1">
                    <a:solidFill>
                      <a:schemeClr val="accent2"/>
                    </a:solidFill>
                  </a:rPr>
                  <a:t>Fine-tune:</a:t>
                </a:r>
                <a:r>
                  <a:rPr lang="en-US"/>
                  <a:t>  Adam then updates frequencies, coefficients, and bias together.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F9222BA-9602-0392-7EB2-BAB8816088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88415" y="2045204"/>
                <a:ext cx="5422392" cy="3633047"/>
              </a:xfrm>
              <a:blipFill>
                <a:blip r:embed="rId3"/>
                <a:stretch>
                  <a:fillRect l="-935" t="-697" b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0CEDC-1184-E90A-00F1-1493A61F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11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C7EA4F2-1439-18D8-6C98-B86940CD197A}"/>
              </a:ext>
            </a:extLst>
          </p:cNvPr>
          <p:cNvSpPr/>
          <p:nvPr/>
        </p:nvSpPr>
        <p:spPr>
          <a:xfrm>
            <a:off x="894080" y="5770880"/>
            <a:ext cx="9857260" cy="914400"/>
          </a:xfrm>
          <a:prstGeom prst="roundRect">
            <a:avLst/>
          </a:prstGeom>
          <a:solidFill>
            <a:srgbClr val="F1E6EC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b="1">
                <a:solidFill>
                  <a:schemeClr val="accent2"/>
                </a:solidFill>
              </a:rPr>
              <a:t>Takeaway: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2"/>
                </a:solidFill>
              </a:rPr>
              <a:t>Starting frequencies are learned from training samples, no target period or frequencies are supplied.</a:t>
            </a:r>
          </a:p>
        </p:txBody>
      </p:sp>
    </p:spTree>
    <p:extLst>
      <p:ext uri="{BB962C8B-B14F-4D97-AF65-F5344CB8AC3E}">
        <p14:creationId xmlns:p14="http://schemas.microsoft.com/office/powerpoint/2010/main" val="983325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C3D1D-753C-DF63-A26F-9EA4A591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Fourier regressor: Results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9768C06F-3073-EB73-22E3-856633831CBB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507344557"/>
                  </p:ext>
                </p:extLst>
              </p:nvPr>
            </p:nvGraphicFramePr>
            <p:xfrm>
              <a:off x="5740400" y="1980025"/>
              <a:ext cx="5953760" cy="21785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4640">
                      <a:extLst>
                        <a:ext uri="{9D8B030D-6E8A-4147-A177-3AD203B41FA5}">
                          <a16:colId xmlns:a16="http://schemas.microsoft.com/office/drawing/2014/main" val="1124512697"/>
                        </a:ext>
                      </a:extLst>
                    </a:gridCol>
                    <a:gridCol w="690880">
                      <a:extLst>
                        <a:ext uri="{9D8B030D-6E8A-4147-A177-3AD203B41FA5}">
                          <a16:colId xmlns:a16="http://schemas.microsoft.com/office/drawing/2014/main" val="309312771"/>
                        </a:ext>
                      </a:extLst>
                    </a:gridCol>
                    <a:gridCol w="965200">
                      <a:extLst>
                        <a:ext uri="{9D8B030D-6E8A-4147-A177-3AD203B41FA5}">
                          <a16:colId xmlns:a16="http://schemas.microsoft.com/office/drawing/2014/main" val="3651323958"/>
                        </a:ext>
                      </a:extLst>
                    </a:gridCol>
                    <a:gridCol w="952505">
                      <a:extLst>
                        <a:ext uri="{9D8B030D-6E8A-4147-A177-3AD203B41FA5}">
                          <a16:colId xmlns:a16="http://schemas.microsoft.com/office/drawing/2014/main" val="3240668814"/>
                        </a:ext>
                      </a:extLst>
                    </a:gridCol>
                    <a:gridCol w="981060">
                      <a:extLst>
                        <a:ext uri="{9D8B030D-6E8A-4147-A177-3AD203B41FA5}">
                          <a16:colId xmlns:a16="http://schemas.microsoft.com/office/drawing/2014/main" val="2272888172"/>
                        </a:ext>
                      </a:extLst>
                    </a:gridCol>
                    <a:gridCol w="799475">
                      <a:extLst>
                        <a:ext uri="{9D8B030D-6E8A-4147-A177-3AD203B41FA5}">
                          <a16:colId xmlns:a16="http://schemas.microsoft.com/office/drawing/2014/main" val="516183017"/>
                        </a:ext>
                      </a:extLst>
                    </a:gridCol>
                  </a:tblGrid>
                  <a:tr h="347700"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Configuration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Params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Val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Interp.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Near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Far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8922418"/>
                      </a:ext>
                    </a:extLst>
                  </a:tr>
                  <a:tr h="347700"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Spectral only K=8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0.01073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0.01073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0.04804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0.14981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1891922"/>
                      </a:ext>
                    </a:extLst>
                  </a:tr>
                  <a:tr h="347700"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Spectral + Adam K=4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0.10193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0.10198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0.10244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0.10902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54420"/>
                      </a:ext>
                    </a:extLst>
                  </a:tr>
                  <a:tr h="5679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100" b="1"/>
                            <a:t>Spectral+Adam,K=8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𝟓𝟎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⁻⁶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𝟓𝟑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⁻⁶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𝟑𝟕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⁻⁶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𝟐𝟐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  <m:r>
                                  <a:rPr lang="en-US" sz="1100" b="1" i="1" smtClean="0">
                                    <a:latin typeface="Cambria Math" panose="02040503050406030204" pitchFamily="18" charset="0"/>
                                  </a:rPr>
                                  <m:t>⁻⁵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32015844"/>
                      </a:ext>
                    </a:extLst>
                  </a:tr>
                  <a:tr h="5674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Spectral + Adam K=16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49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4.83×10⁻⁶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4.87×10⁻⁶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4.54×10⁻⁵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100" i="1" smtClean="0">
                                    <a:latin typeface="Cambria Math" panose="02040503050406030204" pitchFamily="18" charset="0"/>
                                  </a:rPr>
                                  <m:t>0.00154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03253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9768C06F-3073-EB73-22E3-856633831CBB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3507344557"/>
                  </p:ext>
                </p:extLst>
              </p:nvPr>
            </p:nvGraphicFramePr>
            <p:xfrm>
              <a:off x="5740400" y="1980025"/>
              <a:ext cx="5953760" cy="21785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64640">
                      <a:extLst>
                        <a:ext uri="{9D8B030D-6E8A-4147-A177-3AD203B41FA5}">
                          <a16:colId xmlns:a16="http://schemas.microsoft.com/office/drawing/2014/main" val="1124512697"/>
                        </a:ext>
                      </a:extLst>
                    </a:gridCol>
                    <a:gridCol w="690880">
                      <a:extLst>
                        <a:ext uri="{9D8B030D-6E8A-4147-A177-3AD203B41FA5}">
                          <a16:colId xmlns:a16="http://schemas.microsoft.com/office/drawing/2014/main" val="309312771"/>
                        </a:ext>
                      </a:extLst>
                    </a:gridCol>
                    <a:gridCol w="965200">
                      <a:extLst>
                        <a:ext uri="{9D8B030D-6E8A-4147-A177-3AD203B41FA5}">
                          <a16:colId xmlns:a16="http://schemas.microsoft.com/office/drawing/2014/main" val="3651323958"/>
                        </a:ext>
                      </a:extLst>
                    </a:gridCol>
                    <a:gridCol w="952505">
                      <a:extLst>
                        <a:ext uri="{9D8B030D-6E8A-4147-A177-3AD203B41FA5}">
                          <a16:colId xmlns:a16="http://schemas.microsoft.com/office/drawing/2014/main" val="3240668814"/>
                        </a:ext>
                      </a:extLst>
                    </a:gridCol>
                    <a:gridCol w="981060">
                      <a:extLst>
                        <a:ext uri="{9D8B030D-6E8A-4147-A177-3AD203B41FA5}">
                          <a16:colId xmlns:a16="http://schemas.microsoft.com/office/drawing/2014/main" val="2272888172"/>
                        </a:ext>
                      </a:extLst>
                    </a:gridCol>
                    <a:gridCol w="799475">
                      <a:extLst>
                        <a:ext uri="{9D8B030D-6E8A-4147-A177-3AD203B41FA5}">
                          <a16:colId xmlns:a16="http://schemas.microsoft.com/office/drawing/2014/main" val="516183017"/>
                        </a:ext>
                      </a:extLst>
                    </a:gridCol>
                  </a:tblGrid>
                  <a:tr h="347700"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Configuration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Params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Val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Interp.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Near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Far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58922418"/>
                      </a:ext>
                    </a:extLst>
                  </a:tr>
                  <a:tr h="347700"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Spectral only K=8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455" t="-103704" r="-534545" b="-440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5526" t="-103704" r="-286842" b="-440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0000" t="-103704" r="-190667" b="-440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8571" t="-103704" r="-85714" b="-440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46032" t="-103704" r="-4762" b="-4407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1891922"/>
                      </a:ext>
                    </a:extLst>
                  </a:tr>
                  <a:tr h="347700">
                    <a:tc>
                      <a:txBody>
                        <a:bodyPr/>
                        <a:lstStyle/>
                        <a:p>
                          <a:r>
                            <a:rPr lang="en-US" sz="1100"/>
                            <a:t>Spectral + Adam K=4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25455" t="-196429" r="-534545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5526" t="-196429" r="-286842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40000" t="-196429" r="-190667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28571" t="-196429" r="-85714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46032" t="-196429" r="-4762" b="-3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54420"/>
                      </a:ext>
                    </a:extLst>
                  </a:tr>
                  <a:tr h="56799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1100" b="1"/>
                            <a:t>Spectral+Adam,K=8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455" t="-184444" r="-534545" b="-1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5526" t="-184444" r="-286842" b="-1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0000" t="-184444" r="-190667" b="-1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8571" t="-184444" r="-85714" b="-1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6032" t="-184444" r="-4762" b="-1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2015844"/>
                      </a:ext>
                    </a:extLst>
                  </a:tr>
                  <a:tr h="56748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100"/>
                            <a:t>Spectral + Adam K=16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25455" t="-284444" r="-534545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35526" t="-284444" r="-286842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40000" t="-284444" r="-190667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28571" t="-284444" r="-85714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6032" t="-284444" r="-4762" b="-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032535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7EA9F3-C567-A1C0-12BB-2A24FE5AA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2702047-7F4A-4B2D-3006-F958F961DE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40400" y="4238303"/>
                <a:ext cx="5870409" cy="1450571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 fontScale="85000" lnSpcReduction="10000"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Adam substaintially, improved the K=8 spectral fit by about four order of magnitude (far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0.15 </m:t>
                    </m:r>
                    <m:r>
                      <a:rPr lang="en-US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 1.2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−5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).</m:t>
                    </m:r>
                  </m:oMath>
                </a14:m>
                <a:endParaRPr lang="en-US"/>
              </a:p>
              <a:p>
                <a:r>
                  <a:rPr lang="en-US"/>
                  <a:t>K = 4 underfit this target, increasing from K=8 to K=16 did not improve the measured results.</a:t>
                </a:r>
              </a:p>
              <a:p>
                <a:r>
                  <a:rPr lang="en-US"/>
                  <a:t>K=8 (25 parameters) selected using validation RMSE only. </a:t>
                </a:r>
              </a:p>
              <a:p>
                <a:pPr lvl="1"/>
                <a:endParaRPr lang="en-US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2702047-7F4A-4B2D-3006-F958F961D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400" y="4238303"/>
                <a:ext cx="5870409" cy="1450571"/>
              </a:xfrm>
              <a:prstGeom prst="rect">
                <a:avLst/>
              </a:prstGeom>
              <a:blipFill>
                <a:blip r:embed="rId3"/>
                <a:stretch>
                  <a:fillRect l="-216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F553BC-AEFF-73BA-B7A3-0A6F9A8DCA05}"/>
                  </a:ext>
                </a:extLst>
              </p:cNvPr>
              <p:cNvSpPr txBox="1"/>
              <p:nvPr/>
            </p:nvSpPr>
            <p:spPr>
              <a:xfrm>
                <a:off x="6095997" y="6480656"/>
                <a:ext cx="6096000" cy="253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050" i="1"/>
                  <a:t>Note: Seed 42 · Adam learning rate </a:t>
                </a:r>
                <a14:m>
                  <m:oMath xmlns:m="http://schemas.openxmlformats.org/officeDocument/2006/math">
                    <m:r>
                      <a:rPr lang="en-US" sz="1050" i="1" smtClean="0">
                        <a:latin typeface="Cambria Math" panose="02040503050406030204" pitchFamily="18" charset="0"/>
                      </a:rPr>
                      <m:t>0.001</m:t>
                    </m:r>
                  </m:oMath>
                </a14:m>
                <a:r>
                  <a:rPr lang="en-US" sz="1050" i="1"/>
                  <a:t> · Maximum 30,000 epochs · Patience 3,000 · One noise-free target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F553BC-AEFF-73BA-B7A3-0A6F9A8DC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7" y="6480656"/>
                <a:ext cx="6096000" cy="253916"/>
              </a:xfrm>
              <a:prstGeom prst="rect">
                <a:avLst/>
              </a:prstGeom>
              <a:blipFill>
                <a:blip r:embed="rId4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83F03D-0490-47AB-9088-0FB0EC38EFB3}"/>
              </a:ext>
            </a:extLst>
          </p:cNvPr>
          <p:cNvSpPr/>
          <p:nvPr/>
        </p:nvSpPr>
        <p:spPr>
          <a:xfrm>
            <a:off x="581190" y="5768571"/>
            <a:ext cx="10493210" cy="740256"/>
          </a:xfrm>
          <a:prstGeom prst="roundRect">
            <a:avLst/>
          </a:prstGeom>
          <a:solidFill>
            <a:srgbClr val="F1E6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accent2"/>
                </a:solidFill>
              </a:rPr>
              <a:t>Takeaway: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2"/>
                </a:solidFill>
              </a:rPr>
              <a:t>Spectral initialization plus Adam accurately reproduced the waveform inside training and across both evaluated extrapolated bands.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2C7DB69-8A94-A247-03E6-EC18A8D6ED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tretch>
            <a:fillRect/>
          </a:stretch>
        </p:blipFill>
        <p:spPr>
          <a:xfrm>
            <a:off x="253999" y="1980024"/>
            <a:ext cx="5323205" cy="289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26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9083C-1BFF-46C8-881D-AE0D36252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Fitted model: 25 parameters and the effect of adam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40F9AF-7015-28A7-52EE-3925CB3187D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81193" y="2228003"/>
                <a:ext cx="5422390" cy="184615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Model (K = 8)</a:t>
                </a: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25 parameters = 8 frequencies + 8 sine weights + 8 cosine weights +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bias.</a:t>
                </a:r>
              </a:p>
              <a:p>
                <a:pPr marL="3240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40F9AF-7015-28A7-52EE-3925CB3187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81193" y="2228003"/>
                <a:ext cx="5422390" cy="1846157"/>
              </a:xfrm>
              <a:blipFill>
                <a:blip r:embed="rId2"/>
                <a:stretch>
                  <a:fillRect l="-234" t="-29452" b="-19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D8D9C489-54C4-4292-ADDE-5727B44FD97B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4132772839"/>
                  </p:ext>
                </p:extLst>
              </p:nvPr>
            </p:nvGraphicFramePr>
            <p:xfrm>
              <a:off x="6269355" y="2229486"/>
              <a:ext cx="5341452" cy="3017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0219">
                      <a:extLst>
                        <a:ext uri="{9D8B030D-6E8A-4147-A177-3AD203B41FA5}">
                          <a16:colId xmlns:a16="http://schemas.microsoft.com/office/drawing/2014/main" val="3719592959"/>
                        </a:ext>
                      </a:extLst>
                    </a:gridCol>
                    <a:gridCol w="1991473">
                      <a:extLst>
                        <a:ext uri="{9D8B030D-6E8A-4147-A177-3AD203B41FA5}">
                          <a16:colId xmlns:a16="http://schemas.microsoft.com/office/drawing/2014/main" val="2523819926"/>
                        </a:ext>
                      </a:extLst>
                    </a:gridCol>
                    <a:gridCol w="2209760">
                      <a:extLst>
                        <a:ext uri="{9D8B030D-6E8A-4147-A177-3AD203B41FA5}">
                          <a16:colId xmlns:a16="http://schemas.microsoft.com/office/drawing/2014/main" val="3541015148"/>
                        </a:ext>
                      </a:extLst>
                    </a:gridCol>
                  </a:tblGrid>
                  <a:tr h="323639"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True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oMath>
                          </a14:m>
                          <a:endParaRPr lang="en-US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Spectral only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Spectral +Adam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0011360"/>
                      </a:ext>
                    </a:extLst>
                  </a:tr>
                  <a:tr h="3236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0.99900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0.999999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07008141"/>
                      </a:ext>
                    </a:extLst>
                  </a:tr>
                  <a:tr h="3236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 (</m:t>
                                </m:r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𝑠𝑝𝑎𝑟𝑒</m:t>
                                </m:r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0.90183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1.000119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58926281"/>
                      </a:ext>
                    </a:extLst>
                  </a:tr>
                  <a:tr h="3236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 (</m:t>
                                </m:r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𝑠𝑝𝑎𝑟𝑒</m:t>
                                </m:r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1.09621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1.000136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26198126"/>
                      </a:ext>
                    </a:extLst>
                  </a:tr>
                  <a:tr h="3236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1.99922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2.000000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1129540"/>
                      </a:ext>
                    </a:extLst>
                  </a:tr>
                  <a:tr h="3236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2.99884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3.000000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8212599"/>
                      </a:ext>
                    </a:extLst>
                  </a:tr>
                  <a:tr h="3236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4.99926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5.000000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69480295"/>
                      </a:ext>
                    </a:extLst>
                  </a:tr>
                  <a:tr h="3236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7.00015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7.000000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1955891"/>
                      </a:ext>
                    </a:extLst>
                  </a:tr>
                  <a:tr h="3236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10.99999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11.000000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328220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D8D9C489-54C4-4292-ADDE-5727B44FD97B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4132772839"/>
                  </p:ext>
                </p:extLst>
              </p:nvPr>
            </p:nvGraphicFramePr>
            <p:xfrm>
              <a:off x="6269355" y="2229486"/>
              <a:ext cx="5341452" cy="3017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40219">
                      <a:extLst>
                        <a:ext uri="{9D8B030D-6E8A-4147-A177-3AD203B41FA5}">
                          <a16:colId xmlns:a16="http://schemas.microsoft.com/office/drawing/2014/main" val="3719592959"/>
                        </a:ext>
                      </a:extLst>
                    </a:gridCol>
                    <a:gridCol w="1991473">
                      <a:extLst>
                        <a:ext uri="{9D8B030D-6E8A-4147-A177-3AD203B41FA5}">
                          <a16:colId xmlns:a16="http://schemas.microsoft.com/office/drawing/2014/main" val="2523819926"/>
                        </a:ext>
                      </a:extLst>
                    </a:gridCol>
                    <a:gridCol w="2209760">
                      <a:extLst>
                        <a:ext uri="{9D8B030D-6E8A-4147-A177-3AD203B41FA5}">
                          <a16:colId xmlns:a16="http://schemas.microsoft.com/office/drawing/2014/main" val="3541015148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11" t="-3704" r="-371111" b="-8074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Spectral only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600"/>
                            <a:t>Spectral +Adam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8001136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11" t="-107692" r="-371111" b="-73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7962" t="-107692" r="-112739" b="-73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714" t="-107692" r="-1143" b="-73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700814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11" t="-200000" r="-371111" b="-6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7962" t="-200000" r="-112739" b="-6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714" t="-200000" r="-1143" b="-61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892628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11" t="-311538" r="-371111" b="-5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7962" t="-311538" r="-112739" b="-5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714" t="-311538" r="-1143" b="-5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198126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11" t="-396296" r="-371111" b="-4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7962" t="-396296" r="-112739" b="-4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714" t="-396296" r="-1143" b="-4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12954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11" t="-515385" r="-371111" b="-3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7962" t="-515385" r="-112739" b="-3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714" t="-515385" r="-1143" b="-3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821259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11" t="-592593" r="-371111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7962" t="-592593" r="-112739" b="-2185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714" t="-592593" r="-1143" b="-2185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9480295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11" t="-719231" r="-371111" b="-1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7962" t="-719231" r="-112739" b="-12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714" t="-719231" r="-1143" b="-126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195589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111" t="-788889" r="-371111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7962" t="-788889" r="-112739" b="-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41714" t="-788889" r="-1143" b="-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28220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31B50-79A8-9298-1E95-03A187A3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398A6-1FC5-C744-9C15-BC298FD7E62D}"/>
              </a:ext>
            </a:extLst>
          </p:cNvPr>
          <p:cNvSpPr txBox="1"/>
          <p:nvPr/>
        </p:nvSpPr>
        <p:spPr>
          <a:xfrm>
            <a:off x="581191" y="3889494"/>
            <a:ext cx="15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Fitted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95C1CC8A-C5C9-502F-A098-6A314F82E1D4}"/>
                  </a:ext>
                </a:extLst>
              </p:cNvPr>
              <p:cNvSpPr/>
              <p:nvPr/>
            </p:nvSpPr>
            <p:spPr>
              <a:xfrm>
                <a:off x="581190" y="4279760"/>
                <a:ext cx="4864569" cy="1602544"/>
              </a:xfrm>
              <a:prstGeom prst="roundRect">
                <a:avLst/>
              </a:prstGeom>
              <a:solidFill>
                <a:srgbClr val="F1E6E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eqArr>
                        <m:eqArrPr>
                          <m:ctrlP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acc>
                            <m:accPr>
                              <m:chr m:val="̂"/>
                              <m:ctrlPr>
                                <a:rPr lang="en-US" sz="105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05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r>
                            <a:rPr lang="en-US" sz="105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05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05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m:rPr>
                              <m:nor/>
                            </m:rPr>
                            <a:rPr lang="en-US" sz="105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1050" i="1" dirty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−1.3422954×</m:t>
                          </m:r>
                          <m:sSup>
                            <m:sSup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−7</m:t>
                              </m:r>
                            </m:sup>
                          </m:sSup>
                        </m:e>
                        <m:e>
                          <m:r>
                            <m:rPr>
                              <m:aln/>
                            </m:rP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+0.99442613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0.999999225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+0.000201204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0.999999225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  <m:e>
                          <m:r>
                            <m:rPr>
                              <m:aln/>
                            </m:rP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+0.002763405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1.000118971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−0.000102316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1.000118971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  <m:e>
                          <m:r>
                            <m:rPr>
                              <m:aln/>
                            </m:rP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+0.002809668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1.000135541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−0.000098767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1.000135541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  <m:e>
                          <m:r>
                            <m:rPr>
                              <m:aln/>
                            </m:rP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+0.000000247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+0.550000012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  <m:e>
                          <m:r>
                            <m:rPr>
                              <m:aln/>
                            </m:rP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+0.322371513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+0.136296481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  <m:e>
                          <m:r>
                            <m:rPr>
                              <m:aln/>
                            </m:rP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+0.128843769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+0.152968541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  <m:e>
                          <m:r>
                            <m:rPr>
                              <m:aln/>
                            </m:rP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+0.119999841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+0.000000163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</m:e>
                        <m:e>
                          <m:r>
                            <m:rPr>
                              <m:aln/>
                            </m:rP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−0.015893383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+0.078405365</m:t>
                          </m:r>
                          <m:func>
                            <m:funcPr>
                              <m:ctrl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05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  <m:r>
                                    <a:rPr lang="en-US" sz="105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05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en-US" sz="105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95C1CC8A-C5C9-502F-A098-6A314F82E1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0" y="4279760"/>
                <a:ext cx="4864569" cy="1602544"/>
              </a:xfrm>
              <a:prstGeom prst="roundRect">
                <a:avLst/>
              </a:prstGeom>
              <a:blipFill>
                <a:blip r:embed="rId4"/>
                <a:stretch>
                  <a:fillRect b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D91806-C9F7-F578-C871-746C56344BCA}"/>
                  </a:ext>
                </a:extLst>
              </p:cNvPr>
              <p:cNvSpPr txBox="1"/>
              <p:nvPr/>
            </p:nvSpPr>
            <p:spPr>
              <a:xfrm>
                <a:off x="6188075" y="1857931"/>
                <a:ext cx="24867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/>
                  <a:t>Fitted frequencies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D91806-C9F7-F578-C871-746C56344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075" y="1857931"/>
                <a:ext cx="2486706" cy="369332"/>
              </a:xfrm>
              <a:prstGeom prst="rect">
                <a:avLst/>
              </a:prstGeom>
              <a:blipFill>
                <a:blip r:embed="rId5"/>
                <a:stretch>
                  <a:fillRect l="-2030" t="-666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885454D4-BF67-732D-14F5-E33182F589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5337611"/>
                <a:ext cx="5496561" cy="570822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77500" lnSpcReduction="20000"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Adam closely aligns the six principal frequencies with the target frequencies; two small additional components remain near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885454D4-BF67-732D-14F5-E33182F58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337611"/>
                <a:ext cx="5496561" cy="5708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3CFC6B71-3EB6-0113-64C8-14A8139448BD}"/>
                  </a:ext>
                </a:extLst>
              </p:cNvPr>
              <p:cNvSpPr/>
              <p:nvPr/>
            </p:nvSpPr>
            <p:spPr>
              <a:xfrm>
                <a:off x="581190" y="5999039"/>
                <a:ext cx="10625290" cy="753626"/>
              </a:xfrm>
              <a:prstGeom prst="roundRect">
                <a:avLst/>
              </a:prstGeom>
              <a:solidFill>
                <a:srgbClr val="F1E6E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accent2"/>
                    </a:solidFill>
                  </a:rPr>
                  <a:t>Takeaways: </a:t>
                </a:r>
                <a:r>
                  <a:rPr lang="en-US" dirty="0">
                    <a:solidFill>
                      <a:schemeClr val="tx2"/>
                    </a:solidFill>
                  </a:rPr>
                  <a:t>Adam refines the frequency by four orders of magnitude, and that is what makes the far band accurate (RMSE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0.150→1.2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2"/>
                    </a:solidFill>
                  </a:rPr>
                  <a:t>).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3CFC6B71-3EB6-0113-64C8-14A8139448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0" y="5999039"/>
                <a:ext cx="10625290" cy="753626"/>
              </a:xfrm>
              <a:prstGeom prst="roundRect">
                <a:avLst/>
              </a:prstGeom>
              <a:blipFill>
                <a:blip r:embed="rId7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2519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4E44E-8779-473F-8FEB-55F43ACF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Error versus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5CF45D4-7008-8B32-B01B-6ED63240124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7244081" y="2020540"/>
                <a:ext cx="4145280" cy="365859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Reading the plot</a:t>
                </a:r>
              </a:p>
              <a:p>
                <a:r>
                  <a:rPr lang="en-US" b="1" dirty="0"/>
                  <a:t>Tanh:</a:t>
                </a:r>
                <a:r>
                  <a:rPr lang="en-US" dirty="0"/>
                  <a:t> flat near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1.9</m:t>
                    </m:r>
                  </m:oMath>
                </a14:m>
                <a:r>
                  <a:rPr lang="en-US" dirty="0"/>
                  <a:t>, worse than predicting the mean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(0.86)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Snake:</a:t>
                </a:r>
                <a:r>
                  <a:rPr lang="en-US" dirty="0"/>
                  <a:t> best MLP in-window, but error grows and passes the mean line near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Fourier, spectral only: </a:t>
                </a:r>
                <a:r>
                  <a:rPr lang="en-US" dirty="0"/>
                  <a:t>limited by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dirty="0"/>
                  <a:t> frequency error; passes the mean line near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355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b="1" dirty="0"/>
                  <a:t>Fourier, spectral + Adam: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.37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→3×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dirty="0"/>
                  <a:t>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; still a clean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𝛿𝜔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growth.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5CF45D4-7008-8B32-B01B-6ED6324012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7244081" y="2020540"/>
                <a:ext cx="4145280" cy="3658598"/>
              </a:xfrm>
              <a:blipFill>
                <a:blip r:embed="rId2"/>
                <a:stretch>
                  <a:fillRect l="-917" r="-2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26FB5-86C5-D924-FFB5-FAD1EAB78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14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5609FF-543C-A5EF-EB5D-BDEFCA0F6C65}"/>
              </a:ext>
            </a:extLst>
          </p:cNvPr>
          <p:cNvSpPr txBox="1"/>
          <p:nvPr/>
        </p:nvSpPr>
        <p:spPr>
          <a:xfrm>
            <a:off x="863600" y="5679138"/>
            <a:ext cx="3265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bg2">
                    <a:lumMod val="50000"/>
                  </a:schemeClr>
                </a:solidFill>
              </a:rPr>
              <a:t>Note: the log axis; each gridline is a factor of ten.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435323E-7E34-1894-CAFA-7D9318461CF6}"/>
                  </a:ext>
                </a:extLst>
              </p:cNvPr>
              <p:cNvSpPr/>
              <p:nvPr/>
            </p:nvSpPr>
            <p:spPr>
              <a:xfrm>
                <a:off x="690880" y="5956137"/>
                <a:ext cx="10393675" cy="749463"/>
              </a:xfrm>
              <a:prstGeom prst="roundRect">
                <a:avLst/>
              </a:prstGeom>
              <a:solidFill>
                <a:srgbClr val="F1E6E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accent2"/>
                    </a:solidFill>
                  </a:rPr>
                  <a:t>Takeaway: 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2"/>
                    </a:solidFill>
                  </a:rPr>
                  <a:t>In the final band,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𝟗𝟗𝟎</m:t>
                    </m:r>
                    <m:r>
                      <a:rPr lang="en-US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𝟏𝟎𝟎𝟎</m:t>
                    </m:r>
                    <m:r>
                      <a:rPr lang="en-US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a:rPr lang="en-US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], 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</a:rPr>
                  <a:t>spectral + Adam achieves approximately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𝟒𝟎𝟎</m:t>
                    </m:r>
                    <m:r>
                      <a:rPr lang="en-US" b="1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b="1" dirty="0">
                    <a:solidFill>
                      <a:schemeClr val="tx2"/>
                    </a:solidFill>
                  </a:rPr>
                  <a:t> lower RMSE</a:t>
                </a:r>
                <a:r>
                  <a:rPr lang="en-US" dirty="0">
                    <a:solidFill>
                      <a:schemeClr val="tx2"/>
                    </a:solidFill>
                  </a:rPr>
                  <a:t> than predicting the training mean.</a:t>
                </a:r>
              </a:p>
            </p:txBody>
          </p:sp>
        </mc:Choice>
        <mc:Fallback xmlns=""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5435323E-7E34-1894-CAFA-7D9318461C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0" y="5956137"/>
                <a:ext cx="10393675" cy="749463"/>
              </a:xfrm>
              <a:prstGeom prst="roundRect">
                <a:avLst/>
              </a:prstGeom>
              <a:blipFill>
                <a:blip r:embed="rId3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EEB5FBE-0A26-ECAC-5AD4-615D57C7A61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287947" y="1938061"/>
            <a:ext cx="7029382" cy="374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3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A186-CF2C-ED4D-F02C-066F3CFB3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Engineering: tests, reproducibility and commands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569DC7-E912-11CF-9C30-DBD35E3935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592" y="1885135"/>
                <a:ext cx="5153564" cy="3916225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2100" b="1" dirty="0"/>
                  <a:t>What is in the repository</a:t>
                </a:r>
              </a:p>
              <a:p>
                <a:r>
                  <a:rPr lang="en-US" b="1" dirty="0"/>
                  <a:t>321 automated tests</a:t>
                </a:r>
                <a:r>
                  <a:rPr lang="en-US" dirty="0"/>
                  <a:t> in the latest verification snapshot, covering data, models, training, checkpoints, inference, and evaluation.</a:t>
                </a:r>
              </a:p>
              <a:p>
                <a:r>
                  <a:rPr lang="en-US" b="1" dirty="0"/>
                  <a:t>Selected model configs</a:t>
                </a:r>
                <a:r>
                  <a:rPr lang="en-US" dirty="0"/>
                  <a:t> in configs/best/ for Tanh MLP, Snake MLP, and Fourier.</a:t>
                </a:r>
              </a:p>
              <a:p>
                <a:r>
                  <a:rPr lang="en-US" b="1" dirty="0"/>
                  <a:t>Locked dependencies and Python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𝟏𝟏</m:t>
                    </m:r>
                  </m:oMath>
                </a14:m>
                <a:r>
                  <a:rPr lang="en-US" dirty="0"/>
                  <a:t>, managed with </a:t>
                </a:r>
                <a:r>
                  <a:rPr lang="en-US" dirty="0" err="1"/>
                  <a:t>uv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Seeded training and deterministic data grids</a:t>
                </a:r>
                <a:r>
                  <a:rPr lang="en-US" dirty="0"/>
                  <a:t>; each run saves its configuration, checkpoint, preprocessor, metrics, and plots.</a:t>
                </a:r>
              </a:p>
              <a:p>
                <a:pPr lvl="0"/>
                <a:r>
                  <a:rPr lang="en-US" b="1" dirty="0"/>
                  <a:t>Saved-model inference</a:t>
                </a:r>
                <a:r>
                  <a:rPr lang="en-US" dirty="0"/>
                  <a:t> uses learned weights and preprocessing without calling the reference function.</a:t>
                </a:r>
              </a:p>
              <a:p>
                <a:r>
                  <a:rPr lang="en-US" b="1" dirty="0" err="1"/>
                  <a:t>Streamlit</a:t>
                </a:r>
                <a:r>
                  <a:rPr lang="en-US" b="1" dirty="0"/>
                  <a:t> UI</a:t>
                </a:r>
                <a:r>
                  <a:rPr lang="en-US" dirty="0"/>
                  <a:t> compares predictions with reference outputs using entered values or a generated range.</a:t>
                </a:r>
              </a:p>
              <a:p>
                <a:r>
                  <a:rPr lang="en-US" dirty="0" err="1"/>
                  <a:t>Mlflow</a:t>
                </a:r>
                <a:r>
                  <a:rPr lang="en-US" dirty="0"/>
                  <a:t> tracking and ruff linting.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569DC7-E912-11CF-9C30-DBD35E3935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592" y="1885135"/>
                <a:ext cx="5153564" cy="3916225"/>
              </a:xfrm>
              <a:blipFill>
                <a:blip r:embed="rId2"/>
                <a:stretch>
                  <a:fillRect l="-983" t="-1942" r="-1229" b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FB196-0182-BD23-1ACB-2F5D8ABEC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15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A3B7C0-9BA4-E025-814C-295D5547F9CA}"/>
              </a:ext>
            </a:extLst>
          </p:cNvPr>
          <p:cNvSpPr/>
          <p:nvPr/>
        </p:nvSpPr>
        <p:spPr>
          <a:xfrm>
            <a:off x="6226008" y="2785447"/>
            <a:ext cx="5486400" cy="3015913"/>
          </a:xfrm>
          <a:prstGeom prst="roundRect">
            <a:avLst>
              <a:gd name="adj" fmla="val 8070"/>
            </a:avLst>
          </a:prstGeom>
          <a:solidFill>
            <a:srgbClr val="F1E6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Install dependencies and run tests</a:t>
            </a:r>
          </a:p>
          <a:p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sync --locked</a:t>
            </a:r>
          </a:p>
          <a:p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run python -m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-q</a:t>
            </a:r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Train the selected Fourier recipe</a:t>
            </a:r>
          </a:p>
          <a:p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run python -m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scripts.run_experiments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--config configs/best/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fourier_rich_periodic.yaml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Launch the comparison UI</a:t>
            </a:r>
          </a:p>
          <a:p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sync --locked --group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run --group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ui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streamlit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run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streamlit_app.py</a:t>
            </a:r>
            <a:endParaRPr lang="en-US" sz="12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bg2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Check code quality</a:t>
            </a:r>
          </a:p>
          <a:p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uv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run ruff check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function_approximation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scripts tests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streamlit_app.py</a:t>
            </a:r>
            <a:endParaRPr 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A75B00B-DA07-9DD0-49FD-1303CC2C962C}"/>
              </a:ext>
            </a:extLst>
          </p:cNvPr>
          <p:cNvSpPr/>
          <p:nvPr/>
        </p:nvSpPr>
        <p:spPr>
          <a:xfrm>
            <a:off x="479592" y="5904098"/>
            <a:ext cx="10716728" cy="772160"/>
          </a:xfrm>
          <a:prstGeom prst="roundRect">
            <a:avLst/>
          </a:prstGeom>
          <a:solidFill>
            <a:srgbClr val="F1E6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Takeaways: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Config-driven training and saved artifacts make experiments reproducible and predictions easy to inspect.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18897-46CB-376C-77C7-61A382DD651D}"/>
              </a:ext>
            </a:extLst>
          </p:cNvPr>
          <p:cNvSpPr txBox="1"/>
          <p:nvPr/>
        </p:nvSpPr>
        <p:spPr>
          <a:xfrm>
            <a:off x="6226008" y="1927536"/>
            <a:ext cx="53848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Start here: </a:t>
            </a:r>
            <a:r>
              <a:rPr lang="en-US" sz="1400" b="1" dirty="0">
                <a:hlinkClick r:id="rId3"/>
              </a:rPr>
              <a:t>Setup instructions in the README</a:t>
            </a:r>
            <a:br>
              <a:rPr lang="en-US" sz="1400" dirty="0"/>
            </a:br>
            <a:r>
              <a:rPr lang="en-US" sz="1400" dirty="0"/>
              <a:t>Clone the repository, create the Python environment, and install dependencies before running the commands below.</a:t>
            </a:r>
          </a:p>
        </p:txBody>
      </p:sp>
    </p:spTree>
    <p:extLst>
      <p:ext uri="{BB962C8B-B14F-4D97-AF65-F5344CB8AC3E}">
        <p14:creationId xmlns:p14="http://schemas.microsoft.com/office/powerpoint/2010/main" val="1012004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510E8-07E4-C974-B9A8-A7FE0CE43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 &amp; next steps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40A65-4A39-A568-0025-104E4DAE9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22B17B0-BCD2-D2DE-4717-A25E7A50F7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1980789"/>
                <a:ext cx="5161280" cy="3975348"/>
              </a:xfrm>
            </p:spPr>
            <p:txBody>
              <a:bodyPr anchor="t"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Limitations</a:t>
                </a:r>
              </a:p>
              <a:p>
                <a:pPr lvl="0"/>
                <a:r>
                  <a:rPr lang="en-US" b="1" dirty="0"/>
                  <a:t>Limited benchmark scope:</a:t>
                </a:r>
                <a:r>
                  <a:rPr lang="en-US" dirty="0"/>
                  <a:t> one noise-free periodic target; performance on noisy, drifting, or non-periodic signals remains untested.</a:t>
                </a:r>
              </a:p>
              <a:p>
                <a:r>
                  <a:rPr lang="en-US" b="1" dirty="0"/>
                  <a:t>Explicit frequency prior:</a:t>
                </a:r>
                <a:r>
                  <a:rPr lang="en-US" dirty="0"/>
                  <a:t> spectral initialization searches within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[0.1, 20]</m:t>
                    </m:r>
                    <m:r>
                      <m:rPr>
                        <m:lit/>
                      </m:rP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Components outside this interval may be missed during initialization.</a:t>
                </a:r>
              </a:p>
              <a:p>
                <a:r>
                  <a:rPr lang="en-US" b="1" dirty="0"/>
                  <a:t>Error grows with distance:</a:t>
                </a:r>
                <a:r>
                  <a:rPr lang="en-US" dirty="0"/>
                  <a:t> a frequency error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𝛿𝜔</m:t>
                    </m:r>
                    <m:r>
                      <m:rPr>
                        <m:lit/>
                      </m:rP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accumulates phase error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𝛿𝜔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lit/>
                      </m:rP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dirty="0"/>
                  <a:t>accurate finite-band results do not guarantee accurate extrapolation indefinitely.</a:t>
                </a:r>
              </a:p>
              <a:p>
                <a:r>
                  <a:rPr lang="en-US" b="1" dirty="0"/>
                  <a:t>Comparison limits:</a:t>
                </a:r>
                <a:r>
                  <a:rPr lang="en-US" dirty="0"/>
                  <a:t> headline results use seed 42, and Tanh and Snake use different training recipes. They do not isolate activation effects or establish variability across seeds.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22B17B0-BCD2-D2DE-4717-A25E7A50F7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1980789"/>
                <a:ext cx="5161280" cy="3975348"/>
              </a:xfrm>
              <a:blipFill>
                <a:blip r:embed="rId2"/>
                <a:stretch>
                  <a:fillRect l="-1471" t="-2875" r="-12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0585B34A-DAB8-B39F-B4E3-6F71795E96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980789"/>
                <a:ext cx="5161281" cy="397534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 lnSpcReduction="10000"/>
              </a:bodyPr>
              <a:lstStyle>
                <a:lvl1pPr marL="306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8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30000" indent="-30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6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90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4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3pPr>
                <a:lvl4pPr marL="124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4pPr>
                <a:lvl5pPr marL="1602000" indent="-234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5pPr>
                <a:lvl6pPr marL="19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6pPr>
                <a:lvl7pPr marL="2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7pPr>
                <a:lvl8pPr marL="25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8pPr>
                <a:lvl9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  <a:defRPr sz="12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 2" panose="05020102010507070707" pitchFamily="18" charset="2"/>
                  <a:buNone/>
                </a:pPr>
                <a:r>
                  <a:rPr lang="en-US" sz="2400" b="1" dirty="0"/>
                  <a:t>Next Steps</a:t>
                </a:r>
              </a:p>
              <a:p>
                <a:r>
                  <a:rPr lang="en-US" b="1" dirty="0"/>
                  <a:t>Broaden evaluation:</a:t>
                </a:r>
                <a:r>
                  <a:rPr lang="en-US" dirty="0"/>
                  <a:t> test noise, drift, multiple targets, and smaller sample budgets.</a:t>
                </a:r>
              </a:p>
              <a:p>
                <a:r>
                  <a:rPr lang="en-US" b="1" dirty="0"/>
                  <a:t>Measure robustness:</a:t>
                </a:r>
                <a:r>
                  <a:rPr lang="en-US" dirty="0"/>
                  <a:t> repeat all models across more seeds, report variability, and compare matched training budgets.</a:t>
                </a:r>
              </a:p>
              <a:p>
                <a:r>
                  <a:rPr lang="en-US" b="1" dirty="0"/>
                  <a:t>Test the bandwidth assumption:</a:t>
                </a:r>
                <a:r>
                  <a:rPr lang="en-US" dirty="0"/>
                  <a:t> vary the frequency search interval and relate it to sampling resolution and recoverability.</a:t>
                </a:r>
              </a:p>
              <a:p>
                <a:r>
                  <a:rPr lang="en-US" b="1" dirty="0"/>
                  <a:t>Improve capacity selection:</a:t>
                </a:r>
                <a:r>
                  <a:rPr lang="en-US" dirty="0"/>
                  <a:t> expand the validation-based search for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lit/>
                      </m:rP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considering accuracy, parameter count, and training cost.</a:t>
                </a:r>
                <a:endParaRPr lang="en-US" b="1" dirty="0"/>
              </a:p>
            </p:txBody>
          </p:sp>
        </mc:Choice>
        <mc:Fallback xmlns="">
          <p:sp>
            <p:nvSpPr>
              <p:cNvPr id="7" name="Content Placeholder 5">
                <a:extLst>
                  <a:ext uri="{FF2B5EF4-FFF2-40B4-BE49-F238E27FC236}">
                    <a16:creationId xmlns:a16="http://schemas.microsoft.com/office/drawing/2014/main" id="{0585B34A-DAB8-B39F-B4E3-6F71795E9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980789"/>
                <a:ext cx="5161281" cy="3975348"/>
              </a:xfrm>
              <a:prstGeom prst="rect">
                <a:avLst/>
              </a:prstGeom>
              <a:blipFill>
                <a:blip r:embed="rId3"/>
                <a:stretch>
                  <a:fillRect l="-1966" t="-2236" r="-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0AC7BFC-3344-3FFA-E123-55F4979D205E}"/>
              </a:ext>
            </a:extLst>
          </p:cNvPr>
          <p:cNvSpPr/>
          <p:nvPr/>
        </p:nvSpPr>
        <p:spPr>
          <a:xfrm>
            <a:off x="479592" y="5904098"/>
            <a:ext cx="10716728" cy="772160"/>
          </a:xfrm>
          <a:prstGeom prst="roundRect">
            <a:avLst/>
          </a:prstGeom>
          <a:solidFill>
            <a:srgbClr val="F1E6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Takeaways: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Fourier achieved the lowest error on the tested periodic function. Further experiments would assess its robustness to noise and other signals.</a:t>
            </a:r>
          </a:p>
        </p:txBody>
      </p:sp>
    </p:spTree>
    <p:extLst>
      <p:ext uri="{BB962C8B-B14F-4D97-AF65-F5344CB8AC3E}">
        <p14:creationId xmlns:p14="http://schemas.microsoft.com/office/powerpoint/2010/main" val="4186575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A81853-BCE1-4B7C-922E-A502B7B5F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53F3F5-328C-4AC3-B3C4-6A9D4C3D3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1815AA-CCBF-61EE-4388-F6A1AC959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830" y="863695"/>
            <a:ext cx="7498617" cy="49471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Appendix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8C0B53-F62B-4C6C-948D-0F3A70C42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644729"/>
            <a:ext cx="3703320" cy="574583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ECACBD-42EC-44A4-B0DE-2DEDB73E1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BB5757-5277-4AC5-8E2C-46B13387B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3643"/>
            <a:ext cx="7503637" cy="94997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73807B-9D60-C978-F93A-0F7FB6421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D66E208-BCBD-874A-AC3A-9D7D4FA65AE2}" type="slidenum">
              <a:rPr lang="en-US">
                <a:solidFill>
                  <a:srgbClr val="FFFFFF">
                    <a:alpha val="50000"/>
                  </a:srgb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rgbClr val="FFFFFF">
                  <a:alpha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429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7D7AB-5DF3-3959-D740-FA0DF78BD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Snake MLP configuration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3CFFC-441E-03E4-626C-032870F3C31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 anchor="t"/>
              <a:lstStyle/>
              <a:p>
                <a:r>
                  <a:rPr lang="en-US"/>
                  <a:t>Snake activation: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endParaRPr lang="en-US" b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 is learned per neuron, initialized at 1.0</a:t>
                </a:r>
              </a:p>
              <a:p>
                <a:r>
                  <a:rPr lang="en-US"/>
                  <a:t>Identity term keeps gradients healthy; the sine term adds periodic structure</a:t>
                </a:r>
              </a:p>
              <a:p>
                <a:r>
                  <a:rPr lang="en-US"/>
                  <a:t>Architecture: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1→64→256→128→1 </m:t>
                    </m:r>
                  </m:oMath>
                </a14:m>
                <a:endParaRPr lang="en-US"/>
              </a:p>
              <a:p>
                <a:r>
                  <a:rPr lang="en-US"/>
                  <a:t>Parameters: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50,241 (49,793</m:t>
                    </m:r>
                  </m:oMath>
                </a14:m>
                <a:r>
                  <a:rPr lang="en-US"/>
                  <a:t> weights and biases, plus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448</m:t>
                    </m:r>
                  </m:oMath>
                </a14:m>
                <a:r>
                  <a:rPr lang="en-US"/>
                  <a:t> learnable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 values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3CFFC-441E-03E4-626C-032870F3C3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34" t="-697" r="-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19AC57BC-88A0-AE9D-C389-386A0ACF5FD0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987940263"/>
                  </p:ext>
                </p:extLst>
              </p:nvPr>
            </p:nvGraphicFramePr>
            <p:xfrm>
              <a:off x="6188419" y="2011819"/>
              <a:ext cx="5261901" cy="4053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1376">
                      <a:extLst>
                        <a:ext uri="{9D8B030D-6E8A-4147-A177-3AD203B41FA5}">
                          <a16:colId xmlns:a16="http://schemas.microsoft.com/office/drawing/2014/main" val="136138662"/>
                        </a:ext>
                      </a:extLst>
                    </a:gridCol>
                    <a:gridCol w="3170525">
                      <a:extLst>
                        <a:ext uri="{9D8B030D-6E8A-4147-A177-3AD203B41FA5}">
                          <a16:colId xmlns:a16="http://schemas.microsoft.com/office/drawing/2014/main" val="3807705153"/>
                        </a:ext>
                      </a:extLst>
                    </a:gridCol>
                  </a:tblGrid>
                  <a:tr h="355878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8950931"/>
                      </a:ext>
                    </a:extLst>
                  </a:tr>
                  <a:tr h="32622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Architecture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1 → 64 → 256 → 128 → 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64148387"/>
                      </a:ext>
                    </a:extLst>
                  </a:tr>
                  <a:tr h="32622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1600" i="1" smtClean="0">
                                    <a:latin typeface="Cambria Math" panose="02040503050406030204" pitchFamily="18" charset="0"/>
                                  </a:rPr>
                                  <m:t>50,241</m:t>
                                </m:r>
                              </m:oMath>
                            </m:oMathPara>
                          </a14:m>
                          <a:endParaRPr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13647100"/>
                      </a:ext>
                    </a:extLst>
                  </a:tr>
                  <a:tr h="32622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Activation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Snake (learnable a,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₀ = 1.0</m:t>
                              </m:r>
                            </m:oMath>
                          </a14:m>
                          <a:r>
                            <a:rPr lang="en-US" sz="160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7129840"/>
                      </a:ext>
                    </a:extLst>
                  </a:tr>
                  <a:tr h="32622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Optimizer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Adam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32771409"/>
                      </a:ext>
                    </a:extLst>
                  </a:tr>
                  <a:tr h="32622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Learning rate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0.001</m:t>
                              </m:r>
                            </m:oMath>
                          </a14:m>
                          <a:r>
                            <a:rPr lang="en-US" sz="1600"/>
                            <a:t> (weights and a)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497208"/>
                      </a:ext>
                    </a:extLst>
                  </a:tr>
                  <a:tr h="32622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Loss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MSE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865914"/>
                      </a:ext>
                    </a:extLst>
                  </a:tr>
                  <a:tr h="32622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Early stopping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Validation loss, patience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1500</m:t>
                              </m:r>
                            </m:oMath>
                          </a14:m>
                          <a:endParaRPr lang="en-US" sz="16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64310104"/>
                      </a:ext>
                    </a:extLst>
                  </a:tr>
                  <a:tr h="32622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Preprocessing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None (raw x)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40058624"/>
                      </a:ext>
                    </a:extLst>
                  </a:tr>
                  <a:tr h="32622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Maximum epochs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8,000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87268204"/>
                      </a:ext>
                    </a:extLst>
                  </a:tr>
                  <a:tr h="32622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Batch size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128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27234708"/>
                      </a:ext>
                    </a:extLst>
                  </a:tr>
                  <a:tr h="32622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Seed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42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429113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Content Placeholder 5">
                <a:extLst>
                  <a:ext uri="{FF2B5EF4-FFF2-40B4-BE49-F238E27FC236}">
                    <a16:creationId xmlns:a16="http://schemas.microsoft.com/office/drawing/2014/main" id="{19AC57BC-88A0-AE9D-C389-386A0ACF5FD0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987940263"/>
                  </p:ext>
                </p:extLst>
              </p:nvPr>
            </p:nvGraphicFramePr>
            <p:xfrm>
              <a:off x="6188419" y="2011819"/>
              <a:ext cx="5261901" cy="4053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91376">
                      <a:extLst>
                        <a:ext uri="{9D8B030D-6E8A-4147-A177-3AD203B41FA5}">
                          <a16:colId xmlns:a16="http://schemas.microsoft.com/office/drawing/2014/main" val="136138662"/>
                        </a:ext>
                      </a:extLst>
                    </a:gridCol>
                    <a:gridCol w="3170525">
                      <a:extLst>
                        <a:ext uri="{9D8B030D-6E8A-4147-A177-3AD203B41FA5}">
                          <a16:colId xmlns:a16="http://schemas.microsoft.com/office/drawing/2014/main" val="380770515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8950931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Architecture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6400" t="-119231" r="-800" b="-104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4148387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Parameters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6400" t="-211111" r="-800" b="-9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364710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Activation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6400" t="-323077" r="-800" b="-83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129840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Optimizer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Adam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32771409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Learning rate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6400" t="-526923" r="-800" b="-6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49720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Loss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MSE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686591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Early stopping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66400" t="-730769" r="-800" b="-43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431010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Preprocessing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None (raw x)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4005862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Maximum epochs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8,000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87268204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Batch size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128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27234708"/>
                      </a:ext>
                    </a:extLst>
                  </a:tr>
                  <a:tr h="3352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Seed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600"/>
                            <a:t>42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4291136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AB256E-CCC5-D80B-4944-B337847EC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6E208-BCBD-874A-AC3A-9D7D4FA65AE2}" type="slidenum">
              <a:rPr lang="en-US" smtClean="0"/>
              <a:t>18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D169E0-6DD8-8BB2-A33E-25736C111C3C}"/>
              </a:ext>
            </a:extLst>
          </p:cNvPr>
          <p:cNvSpPr txBox="1"/>
          <p:nvPr/>
        </p:nvSpPr>
        <p:spPr>
          <a:xfrm>
            <a:off x="244388" y="56001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200" b="1" i="1">
                <a:solidFill>
                  <a:schemeClr val="bg2">
                    <a:lumMod val="75000"/>
                  </a:schemeClr>
                </a:solidFill>
              </a:rPr>
              <a:t>Differences from the Tanh reference:</a:t>
            </a:r>
            <a:r>
              <a:rPr lang="en-US" sz="1200" i="1">
                <a:solidFill>
                  <a:schemeClr val="bg2">
                    <a:lumMod val="75000"/>
                  </a:schemeClr>
                </a:solidFill>
              </a:rPr>
              <a:t> raw x instead of StandardScaler, batch 128 instead of 64, patience 1500 instead of 150. Snake’s validation curve is noisy and plateau-prone, so patience 150 stops too early.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EDD3B-C057-A2B3-3E8E-3784B1CE18DA}"/>
              </a:ext>
            </a:extLst>
          </p:cNvPr>
          <p:cNvSpPr txBox="1"/>
          <p:nvPr/>
        </p:nvSpPr>
        <p:spPr>
          <a:xfrm>
            <a:off x="315508" y="6246456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/>
              <a:t>Ziyin, Hartwig, Ueda, “Neural Networks Fail to Learn Periodic Functions and How to Fix It”, NeurIPS 2020. </a:t>
            </a:r>
            <a:r>
              <a:rPr lang="en-US" sz="1100">
                <a:hlinkClick r:id="rId4"/>
              </a:rPr>
              <a:t>paper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59633070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3464</TotalTime>
  <Words>2518</Words>
  <Application>Microsoft Macintosh PowerPoint</Application>
  <PresentationFormat>Widescreen</PresentationFormat>
  <Paragraphs>353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 Narrow</vt:lpstr>
      <vt:lpstr>Cambria Math</vt:lpstr>
      <vt:lpstr>Courier New</vt:lpstr>
      <vt:lpstr>Gill Sans MT</vt:lpstr>
      <vt:lpstr>Wingdings</vt:lpstr>
      <vt:lpstr>Wingdings 2</vt:lpstr>
      <vt:lpstr>Dividend</vt:lpstr>
      <vt:lpstr>LEARNING A BLACK-BOX FUNCTION</vt:lpstr>
      <vt:lpstr>PowerPoint Presentation</vt:lpstr>
      <vt:lpstr>Problem statement &amp; success criteria</vt:lpstr>
      <vt:lpstr>Why this problem matters in surgical robotics</vt:lpstr>
      <vt:lpstr>Data &amp; evaluation design</vt:lpstr>
      <vt:lpstr>MLP Base configuration</vt:lpstr>
      <vt:lpstr>Periodic target:  Ablation results</vt:lpstr>
      <vt:lpstr>SELECTED MODEL: INTERPOLATION  VS EXTRAPOLATION</vt:lpstr>
      <vt:lpstr>Snake Activation MLP</vt:lpstr>
      <vt:lpstr>Why a fourier regressor?</vt:lpstr>
      <vt:lpstr>Random initialization – Experiments &amp; findings</vt:lpstr>
      <vt:lpstr>Spectral initialization – Estimating frequencies</vt:lpstr>
      <vt:lpstr>Fourier regressor: Results</vt:lpstr>
      <vt:lpstr>Fitted model: 25 parameters and the effect of adam</vt:lpstr>
      <vt:lpstr>Error versus distance</vt:lpstr>
      <vt:lpstr>Engineering: tests, reproducibility and commands</vt:lpstr>
      <vt:lpstr>Limitation &amp; next steps </vt:lpstr>
      <vt:lpstr>Appendix</vt:lpstr>
      <vt:lpstr>Snake MLP configuration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13</cp:revision>
  <dcterms:created xsi:type="dcterms:W3CDTF">2026-10-21T20:52:12Z</dcterms:created>
  <dcterms:modified xsi:type="dcterms:W3CDTF">2026-10-24T20:20:55Z</dcterms:modified>
</cp:coreProperties>
</file>